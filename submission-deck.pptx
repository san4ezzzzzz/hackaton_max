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9" r:id="rId15"/>
    <p:sldId id="259" r:id="rId5"/>
    <p:sldId id="261" r:id="rId7"/>
    <p:sldId id="262" r:id="rId8"/>
    <p:sldId id="263" r:id="rId9"/>
    <p:sldId id="264" r:id="rId10"/>
    <p:sldId id="268" r:id="rId14"/>
    <p:sldId id="266" r:id="rId12"/>
    <p:sldId id="267" r:id="rId1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4A6AD946-751B-4769-B647-411BAF9E4416}"/>
              </a:ext>
            </a:extLst>
          </p:cNvPr>
          <p:cNvSpPr/>
          <p:nvPr/>
        </p:nvSpPr>
        <p:spPr>
          <a:xfrm>
            <a:off x="8191500" y="514350"/>
            <a:ext cx="3429000" cy="5829300"/>
          </a:xfrm>
          <a:prstGeom prst="roundRect">
            <a:avLst/>
          </a:prstGeom>
          <a:solidFill>
            <a:srgbClr val="16291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F13CB3-7B4E-4348-9D18-9E48E118CAF9}"/>
              </a:ext>
            </a:extLst>
          </p:cNvPr>
          <p:cNvSpPr txBox="1"/>
          <p:nvPr/>
        </p:nvSpPr>
        <p:spPr>
          <a:xfrm>
            <a:off x="571500" y="514350"/>
            <a:ext cx="6667500" cy="28575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5FCF9A"/>
                </a:solidFill>
                <a:latin typeface="Arial"/>
                <a:ea typeface="Arial"/>
              </a:rPr>
              <a:t>ДАННЫЕ ДЛЯ ТЕХНИЧЕСКОЙ ПРОВЕРКИ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BD73CFA-29C6-4C56-86DB-5EA847D9EBBD}"/>
              </a:ext>
            </a:extLst>
          </p:cNvPr>
          <p:cNvSpPr txBox="1"/>
          <p:nvPr/>
        </p:nvSpPr>
        <p:spPr>
          <a:xfrm>
            <a:off x="571500" y="952500"/>
            <a:ext cx="7048500" cy="1666875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</a:rPr>
              <a:t>Цифровой навигатор маршрутов выходного дня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FFA9665-946D-415D-B1A9-DDDF95E5BF01}"/>
              </a:ext>
            </a:extLst>
          </p:cNvPr>
          <p:cNvSpPr txBox="1"/>
          <p:nvPr/>
        </p:nvSpPr>
        <p:spPr>
          <a:xfrm>
            <a:off x="571500" y="2743200"/>
            <a:ext cx="7048500" cy="762000"/>
          </a:xfrm>
        </p:spPr>
        <p:txBody>
          <a:bodyPr wrap="square" rtlCol="0" lIns="0" tIns="0" rIns="0" bIns="0" anchor="t"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B9CFC2"/>
                </a:solidFill>
                <a:latin typeface="Arial"/>
                <a:ea typeface="Arial"/>
              </a:rPr>
              <a:t>Бот в мессенджере MAX · HTTP API · Mini App</a:t>
            </a:r>
          </a:p>
          <a:p>
            <a:r>
              <a:rPr sz="1300">
                <a:solidFill>
                  <a:srgbClr val="7F9A8B"/>
                </a:solidFill>
                <a:latin typeface="Arial"/>
                <a:ea typeface="Arial"/>
              </a:rPr>
              <a:t>Команда «Хакатон МАХ 91» · 30 сентября 2026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0C5DC02-371A-4446-B686-F788D0AA1017}"/>
              </a:ext>
            </a:extLst>
          </p:cNvPr>
          <p:cNvSpPr txBox="1"/>
          <p:nvPr/>
        </p:nvSpPr>
        <p:spPr>
          <a:xfrm>
            <a:off x="571500" y="4000500"/>
            <a:ext cx="7048500" cy="1809750"/>
          </a:xfrm>
        </p:spPr>
        <p:txBody>
          <a:bodyPr wrap="square" rtlCol="0" lIns="0" tIns="0" rIns="0" bIns="0" anchor="t"/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7F9A8B"/>
                </a:solidFill>
                <a:latin typeface="Arial"/>
                <a:ea typeface="Arial"/>
              </a:rPr>
              <a:t>ЗАСТЫВШАЯ ВЕРСИЯ · GIT TAG submitted</a:t>
            </a:r>
          </a:p>
          <a:p>
            <a:pPr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</a:rPr>
              <a:t>9425325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B9CFC2"/>
                </a:solidFill>
                <a:latin typeface="Arial"/>
                <a:ea typeface="Arial"/>
              </a:rPr>
              <a:t>github.com/san4EZzzZZZ/hackaton_max</a:t>
            </a:r>
          </a:p>
          <a:p>
            <a:r>
              <a:rPr sz="1200">
                <a:solidFill>
                  <a:srgbClr val="7F9A8B"/>
                </a:solidFill>
                <a:latin typeface="Arial"/>
                <a:ea typeface="Arial"/>
              </a:rPr>
              <a:t>полный хэш: 9425325818095eadd77aede521fc7b3d775e80f8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FFADAFC-E919-47DF-A46D-5F7C2BA9514F}"/>
              </a:ext>
            </a:extLst>
          </p:cNvPr>
          <p:cNvSpPr txBox="1"/>
          <p:nvPr/>
        </p:nvSpPr>
        <p:spPr>
          <a:xfrm>
            <a:off x="8477250" y="857250"/>
            <a:ext cx="2857500" cy="5334000"/>
          </a:xfrm>
        </p:spPr>
        <p:txBody>
          <a:bodyPr wrap="square" rtlCol="0" lIns="0" tIns="0" rIns="0" bIns="0" anchor="t"/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FCF9A"/>
                </a:solidFill>
                <a:latin typeface="Arial"/>
                <a:ea typeface="Arial"/>
              </a:rPr>
              <a:t>РЕШЕНИЕ В MAX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@t91_hakaton_max_bot — кнопка «Открыть навигатор»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FCF9A"/>
                </a:solidFill>
                <a:latin typeface="Arial"/>
                <a:ea typeface="Arial"/>
              </a:rPr>
              <a:t>MINI APP (HTTPS)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https://max.chestnyidiplom.ru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FCF9A"/>
                </a:solidFill>
                <a:latin typeface="Arial"/>
                <a:ea typeface="Arial"/>
              </a:rPr>
              <a:t>СОБСТВЕННЫЙ API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https://max.chestnyidiplom.ru/api/v1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9DB3A6"/>
                </a:solidFill>
                <a:latin typeface="Arial"/>
                <a:ea typeface="Arial"/>
              </a:rPr>
              <a:t>/docs · /openapi.json · DATA-API.yaml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FCF9A"/>
                </a:solidFill>
                <a:latin typeface="Arial"/>
                <a:ea typeface="Arial"/>
              </a:rPr>
              <a:t>ЗАПУСК ЛОКАЛЬНО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docker compose up --build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9DB3A6"/>
                </a:solidFill>
                <a:latin typeface="Arial"/>
                <a:ea typeface="Arial"/>
              </a:rPr>
              <a:t>:8080 API · :8081 фронт · без .env и токенов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FCF9A"/>
                </a:solidFill>
                <a:latin typeface="Arial"/>
                <a:ea typeface="Arial"/>
              </a:rPr>
              <a:t>ТЕСТОВЫЕ УЧЁТНЫЕ ЗАПИСИ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не требуются: гость видит всё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9DB3A6"/>
                </a:solidFill>
                <a:latin typeface="Arial"/>
                <a:ea typeface="Arial"/>
              </a:rPr>
              <a:t>редактор каталога — X-Ingest-Token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FCF9A"/>
                </a:solidFill>
                <a:latin typeface="Arial"/>
                <a:ea typeface="Arial"/>
              </a:rPr>
              <a:t>ТОКЕНЫ И ENV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BOT_TOKEN, WEBHOOK_SECRET, INGEST_TOKEN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9DB3A6"/>
                </a:solidFill>
                <a:latin typeface="Arial"/>
                <a:ea typeface="Arial"/>
              </a:rPr>
              <a:t>в закрытом канале; в .env.example только заглушки, для проверки они не нужны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FCF9A"/>
                </a:solidFill>
                <a:latin typeface="Arial"/>
                <a:ea typeface="Arial"/>
              </a:rPr>
              <a:t>СЦЕНАРИЙ ПРОВЕРКИ</a:t>
            </a:r>
          </a:p>
          <a:p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cities → chips → places → routes/generate → routes → guide → events → funnel → readyz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DBFB4AD-F601-4EEE-A1B6-4B9F3313CE41}"/>
              </a:ext>
            </a:extLst>
          </p:cNvPr>
          <p:cNvSpPr txBox="1"/>
          <p:nvPr/>
        </p:nvSpPr>
        <p:spPr>
          <a:xfrm>
            <a:off x="571500" y="514350"/>
            <a:ext cx="5715000" cy="2857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ЧТО РЕШАЕТ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420A2A1-E540-49A3-935F-378B2E02F9AA}"/>
              </a:ext>
            </a:extLst>
          </p:cNvPr>
          <p:cNvSpPr txBox="1"/>
          <p:nvPr/>
        </p:nvSpPr>
        <p:spPr>
          <a:xfrm>
            <a:off x="571500" y="857250"/>
            <a:ext cx="9525000" cy="85725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15211B"/>
                </a:solidFill>
                <a:latin typeface="Arial"/>
                <a:ea typeface="Arial"/>
              </a:rPr>
              <a:t>«Куда выйти сегодня, если есть два часа и тысяча рублей»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3593E40-EE4B-4AB9-A316-C80EEACBFD8E}"/>
              </a:ext>
            </a:extLst>
          </p:cNvPr>
          <p:cNvSpPr/>
          <p:nvPr/>
        </p:nvSpPr>
        <p:spPr>
          <a:xfrm>
            <a:off x="571500" y="2188250"/>
            <a:ext cx="3429000" cy="38100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31EB375-4CC7-4F7F-8CD6-B5BF93B9D3F2}"/>
              </a:ext>
            </a:extLst>
          </p:cNvPr>
          <p:cNvSpPr/>
          <p:nvPr/>
        </p:nvSpPr>
        <p:spPr>
          <a:xfrm>
            <a:off x="4381500" y="2188250"/>
            <a:ext cx="3429000" cy="38100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6E3559D-8421-43C6-BCE2-2CEF60CA7B9D}"/>
              </a:ext>
            </a:extLst>
          </p:cNvPr>
          <p:cNvSpPr/>
          <p:nvPr/>
        </p:nvSpPr>
        <p:spPr>
          <a:xfrm>
            <a:off x="8191500" y="2188250"/>
            <a:ext cx="3429000" cy="38100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E160452-255B-4082-85C8-BF826005E060}"/>
              </a:ext>
            </a:extLst>
          </p:cNvPr>
          <p:cNvSpPr txBox="1"/>
          <p:nvPr/>
        </p:nvSpPr>
        <p:spPr>
          <a:xfrm>
            <a:off x="838200" y="2476500"/>
            <a:ext cx="2895600" cy="2885440"/>
          </a:xfrm>
        </p:spPr>
        <p:txBody>
          <a:bodyPr wrap="square" rtlCol="0" lIns="0" tIns="0" rIns="0" bIns="0" anchor="t"/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5211B"/>
                </a:solidFill>
                <a:latin typeface="Arial"/>
                <a:ea typeface="Arial"/>
              </a:rPr>
              <a:t>Каталог реальных мест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A5A50"/>
                </a:solidFill>
                <a:latin typeface="Arial"/>
                <a:ea typeface="Arial"/>
              </a:rPr>
              <a:t>90 мест Ростова-на-Дону: координаты из OSM и Викиданных, фото со ссылкой на лицензию, цена и длительность визита.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A5A50"/>
                </a:solidFill>
                <a:latin typeface="Arial"/>
                <a:ea typeface="Arial"/>
              </a:rPr>
              <a:t>То, что не удалось сверить с первоисточником, перечислено в provenance и не выдаёт себя за проверенное.</a:t>
            </a:r>
          </a:p>
          <a:p>
            <a:r>
              <a:rPr sz="1300">
                <a:solidFill>
                  <a:srgbClr val="1B7A4F"/>
                </a:solidFill>
                <a:latin typeface="Arial"/>
                <a:ea typeface="Arial"/>
              </a:rPr>
              <a:t>Рейтинг автокаталога — «сколько мира написало о месте», а не звёзды посетителей.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4714F7E-31F1-492A-B072-C35E9593900F}"/>
              </a:ext>
            </a:extLst>
          </p:cNvPr>
          <p:cNvSpPr txBox="1"/>
          <p:nvPr/>
        </p:nvSpPr>
        <p:spPr>
          <a:xfrm>
            <a:off x="4648200" y="2476500"/>
            <a:ext cx="2895600" cy="2687320"/>
          </a:xfrm>
        </p:spPr>
        <p:txBody>
          <a:bodyPr wrap="square" rtlCol="0" lIns="0" tIns="0" rIns="0" bIns="0" anchor="t"/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5211B"/>
                </a:solidFill>
                <a:latin typeface="Arial"/>
                <a:ea typeface="Arial"/>
              </a:rPr>
              <a:t>Планировщик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A5A50"/>
                </a:solidFill>
                <a:latin typeface="Arial"/>
                <a:ea typeface="Arial"/>
              </a:rPr>
              <a:t>Маршрут собирается под 85 % заказанного времени: 15 % остаются резервом на очереди, закрытую дверь и «один экспонат на час».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A5A50"/>
                </a:solidFill>
                <a:latin typeface="Arial"/>
                <a:ea typeface="Arial"/>
              </a:rPr>
              <a:t>Точки не ближе 150 метров и не дальше 2,5 километра друг от друга, суммарная цена — в пределах бюджета.</a:t>
            </a:r>
          </a:p>
          <a:p>
            <a:r>
              <a:rPr sz="1300">
                <a:solidFill>
                  <a:srgbClr val="1B7A4F"/>
                </a:solidFill>
                <a:latin typeface="Arial"/>
                <a:ea typeface="Arial"/>
              </a:rPr>
              <a:t>Заказанные 3 часа = план на 135 минут, 5 остановок и 1474 м пешком.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8859343-1910-4473-9E1F-2272C8CB665B}"/>
              </a:ext>
            </a:extLst>
          </p:cNvPr>
          <p:cNvSpPr txBox="1"/>
          <p:nvPr/>
        </p:nvSpPr>
        <p:spPr>
          <a:xfrm>
            <a:off x="8458200" y="2476500"/>
            <a:ext cx="2895600" cy="2571750"/>
          </a:xfrm>
        </p:spPr>
        <p:txBody>
          <a:bodyPr wrap="square" rtlCol="0" lIns="0" tIns="0" rIns="0" bIns="0" anchor="t"/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5211B"/>
                </a:solidFill>
                <a:latin typeface="Arial"/>
                <a:ea typeface="Arial"/>
              </a:rPr>
              <a:t>Навигация и Mini App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A5A50"/>
                </a:solidFill>
                <a:latin typeface="Arial"/>
                <a:ea typeface="Arial"/>
              </a:rPr>
              <a:t>Карта MapLibre с линией переходов по тротуарам; маркеры кликабельны, неисмеренные переходы пунктиром.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A5A50"/>
                </a:solidFill>
                <a:latin typeface="Arial"/>
                <a:ea typeface="Arial"/>
              </a:rPr>
              <a:t>«Я на месте» открывает справку о точке с соседними местами, «Завершить прогулку» сверяет факт с планом.</a:t>
            </a:r>
          </a:p>
          <a:p>
            <a:r>
              <a:rPr sz="1300">
                <a:solidFill>
                  <a:srgbClr val="1B7A4F"/>
                </a:solidFill>
                <a:latin typeface="Arial"/>
                <a:ea typeface="Arial"/>
              </a:rPr>
              <a:t>Фронтенд не додумывает тротуары и не пересчитывает минуты.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BAFB38C-C2BA-42A4-B48C-088F52B81099}"/>
              </a:ext>
            </a:extLst>
          </p:cNvPr>
          <p:cNvSpPr txBox="1"/>
          <p:nvPr/>
        </p:nvSpPr>
        <p:spPr>
          <a:xfrm>
            <a:off x="571500" y="514350"/>
            <a:ext cx="5715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ЯДРО · ПЛАНИРОВЩИК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1CF870A-4DF7-4624-93FA-A58D629FD8B8}"/>
              </a:ext>
            </a:extLst>
          </p:cNvPr>
          <p:cNvSpPr txBox="1"/>
          <p:nvPr/>
        </p:nvSpPr>
        <p:spPr>
          <a:xfrm>
            <a:off x="571500" y="876300"/>
            <a:ext cx="104775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15211B"/>
                </a:solidFill>
                <a:latin typeface="Arial"/>
                <a:ea typeface="Arial"/>
              </a:rPr>
              <a:t>Маршрут собирается под 85 % заказанного времени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9053373-EE71-47BB-B2CB-2850C7018D43}"/>
              </a:ext>
            </a:extLst>
          </p:cNvPr>
          <p:cNvSpPr/>
          <p:nvPr/>
        </p:nvSpPr>
        <p:spPr>
          <a:xfrm>
            <a:off x="571500" y="1619250"/>
            <a:ext cx="2857500" cy="2476500"/>
          </a:xfrm>
          <a:prstGeom prst="roundRect">
            <a:avLst/>
          </a:prstGeom>
          <a:solidFill>
            <a:srgbClr val="0F1E1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1984193-0652-4A70-9FA1-BCFBD2CE1BD4}"/>
              </a:ext>
            </a:extLst>
          </p:cNvPr>
          <p:cNvSpPr/>
          <p:nvPr/>
        </p:nvSpPr>
        <p:spPr>
          <a:xfrm>
            <a:off x="3619500" y="1619250"/>
            <a:ext cx="80010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4B4CCC7-9CBE-4D0D-A118-258DD2499182}"/>
              </a:ext>
            </a:extLst>
          </p:cNvPr>
          <p:cNvSpPr txBox="1"/>
          <p:nvPr/>
        </p:nvSpPr>
        <p:spPr>
          <a:xfrm>
            <a:off x="838200" y="1866900"/>
            <a:ext cx="2324100" cy="731520"/>
          </a:xfrm>
        </p:spPr>
        <p:txBody>
          <a:bodyPr wrap="square" rtlCol="0" lIns="0" tIns="0" rIns="0" bIns="0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  <a:ea typeface="Arial"/>
              </a:rPr>
              <a:t>85 %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B20ACA0-8A05-46ED-9F3E-F26F64D83BD5}"/>
              </a:ext>
            </a:extLst>
          </p:cNvPr>
          <p:cNvSpPr txBox="1"/>
          <p:nvPr/>
        </p:nvSpPr>
        <p:spPr>
          <a:xfrm>
            <a:off x="838200" y="2667000"/>
            <a:ext cx="2324100" cy="12903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5FCF9A"/>
                </a:solidFill>
                <a:latin typeface="Arial"/>
                <a:ea typeface="Arial"/>
              </a:rPr>
              <a:t>заказанного времени занимает план прогулки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>
                <a:solidFill>
                  <a:srgbClr val="B9CFC2"/>
                </a:solidFill>
                <a:latin typeface="Arial"/>
                <a:ea typeface="Arial"/>
              </a:rPr>
              <a:t>15 % остаются резервом: очередь, закрытая дверь, «один экспонат на час»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878234B-C961-4D59-A63B-432F04AB7329}"/>
              </a:ext>
            </a:extLst>
          </p:cNvPr>
          <p:cNvSpPr txBox="1"/>
          <p:nvPr/>
        </p:nvSpPr>
        <p:spPr>
          <a:xfrm>
            <a:off x="3886200" y="1771650"/>
            <a:ext cx="7467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Не дальше 2,5 км между точками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Переход измеряется по пешеходной графе, а не по прямой между точками.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FE6F08B-CC8E-405E-8159-E1B0B2F515A8}"/>
              </a:ext>
            </a:extLst>
          </p:cNvPr>
          <p:cNvSpPr txBox="1"/>
          <p:nvPr/>
        </p:nvSpPr>
        <p:spPr>
          <a:xfrm>
            <a:off x="3886200" y="2362200"/>
            <a:ext cx="7467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Соседи не ближе 150 метров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Иначе две витрины одного дома становятся двумя отдельными остановками.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487BD34-E4DF-449E-A207-0EEAC9547C63}"/>
              </a:ext>
            </a:extLst>
          </p:cNvPr>
          <p:cNvSpPr txBox="1"/>
          <p:nvPr/>
        </p:nvSpPr>
        <p:spPr>
          <a:xfrm>
            <a:off x="3886200" y="2952750"/>
            <a:ext cx="7467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4,8 км/ч и минимум 3 минуты на точку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Скорость пешехода плюс время внутри: прогулка не превращается в перебег.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B2F6CF1-0A84-4B4E-8BB7-136F1AA3C07E}"/>
              </a:ext>
            </a:extLst>
          </p:cNvPr>
          <p:cNvSpPr txBox="1"/>
          <p:nvPr/>
        </p:nvSpPr>
        <p:spPr>
          <a:xfrm>
            <a:off x="3886200" y="3543300"/>
            <a:ext cx="7467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Бюджет — ограничение, а не цель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Сумма цен укладывается в max_budget, а не тратится целиком на последнюю точку.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D4D13B9-C197-4012-97EB-181BE5D001CE}"/>
              </a:ext>
            </a:extLst>
          </p:cNvPr>
          <p:cNvSpPr/>
          <p:nvPr/>
        </p:nvSpPr>
        <p:spPr>
          <a:xfrm>
            <a:off x="571500" y="4476750"/>
            <a:ext cx="11049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110C56C-39C8-466F-BD0C-528F76FD641F}"/>
              </a:ext>
            </a:extLst>
          </p:cNvPr>
          <p:cNvSpPr txBox="1"/>
          <p:nvPr/>
        </p:nvSpPr>
        <p:spPr>
          <a:xfrm>
            <a:off x="838200" y="4705350"/>
            <a:ext cx="10515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ЗАМЕР НА РОСТОВЕ · POST /api/v1/routes/generate · duration_hours=3, tags=["culture"], max_budget=800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FAD1324-8506-41B1-9126-7943D74E41F1}"/>
              </a:ext>
            </a:extLst>
          </p:cNvPr>
          <p:cNvSpPr txBox="1"/>
          <p:nvPr/>
        </p:nvSpPr>
        <p:spPr>
          <a:xfrm>
            <a:off x="838200" y="5048250"/>
            <a:ext cx="24765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15211B"/>
                </a:solidFill>
                <a:latin typeface="Arial"/>
                <a:ea typeface="Arial"/>
              </a:rPr>
              <a:t>135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3F2E2D1-D119-4901-85F8-5BF83D5615EF}"/>
              </a:ext>
            </a:extLst>
          </p:cNvPr>
          <p:cNvSpPr txBox="1"/>
          <p:nvPr/>
        </p:nvSpPr>
        <p:spPr>
          <a:xfrm>
            <a:off x="3524250" y="5048250"/>
            <a:ext cx="24765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15211B"/>
                </a:solidFill>
                <a:latin typeface="Arial"/>
                <a:ea typeface="Arial"/>
              </a:rPr>
              <a:t>45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CFFEFE8-4C2E-4872-8CF2-50B88E319535}"/>
              </a:ext>
            </a:extLst>
          </p:cNvPr>
          <p:cNvSpPr txBox="1"/>
          <p:nvPr/>
        </p:nvSpPr>
        <p:spPr>
          <a:xfrm>
            <a:off x="6210300" y="5048250"/>
            <a:ext cx="24765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15211B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6587A51-6C3E-4493-BCD0-E81F3068457C}"/>
              </a:ext>
            </a:extLst>
          </p:cNvPr>
          <p:cNvSpPr txBox="1"/>
          <p:nvPr/>
        </p:nvSpPr>
        <p:spPr>
          <a:xfrm>
            <a:off x="8896350" y="5048250"/>
            <a:ext cx="24765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15211B"/>
                </a:solidFill>
                <a:latin typeface="Arial"/>
                <a:ea typeface="Arial"/>
              </a:rPr>
              <a:t>1474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3EF4EC3-9BAE-4443-9E9E-3620D54B4E90}"/>
              </a:ext>
            </a:extLst>
          </p:cNvPr>
          <p:cNvSpPr txBox="1"/>
          <p:nvPr/>
        </p:nvSpPr>
        <p:spPr>
          <a:xfrm>
            <a:off x="838200" y="5600700"/>
            <a:ext cx="2476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минут в плане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0FBB803-93A0-495D-9F0A-6D543BFB5E9D}"/>
              </a:ext>
            </a:extLst>
          </p:cNvPr>
          <p:cNvSpPr txBox="1"/>
          <p:nvPr/>
        </p:nvSpPr>
        <p:spPr>
          <a:xfrm>
            <a:off x="3524250" y="5600700"/>
            <a:ext cx="2476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минут резерва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F287E25-9861-4346-99AC-25FA6EBE9B4F}"/>
              </a:ext>
            </a:extLst>
          </p:cNvPr>
          <p:cNvSpPr txBox="1"/>
          <p:nvPr/>
        </p:nvSpPr>
        <p:spPr>
          <a:xfrm>
            <a:off x="6210300" y="5600700"/>
            <a:ext cx="2476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остановок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E82DF53-D6E6-4A6D-9B31-61D54FE88579}"/>
              </a:ext>
            </a:extLst>
          </p:cNvPr>
          <p:cNvSpPr txBox="1"/>
          <p:nvPr/>
        </p:nvSpPr>
        <p:spPr>
          <a:xfrm>
            <a:off x="8896350" y="5600700"/>
            <a:ext cx="2476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метров по тротуарам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FA750EB-CC63-4451-BB77-AE5785841AC7}"/>
              </a:ext>
            </a:extLst>
          </p:cNvPr>
          <p:cNvSpPr txBox="1"/>
          <p:nvPr/>
        </p:nvSpPr>
        <p:spPr>
          <a:xfrm>
            <a:off x="838200" y="5924550"/>
            <a:ext cx="10515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7F9A8B"/>
                </a:solidFill>
                <a:latin typeface="Arial"/>
                <a:ea typeface="Arial"/>
              </a:rPr>
              <a:t>total_walk_distance_m=1474 · total_distance_m=1028 по прямой · slack_minutes=45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CC930F9-82D2-46E5-8C25-0EAE336A52EA}"/>
              </a:ext>
            </a:extLst>
          </p:cNvPr>
          <p:cNvSpPr txBox="1"/>
          <p:nvPr/>
        </p:nvSpPr>
        <p:spPr>
          <a:xfrm>
            <a:off x="571500" y="514350"/>
            <a:ext cx="5715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ЯДРО · ГЕОМЕТРИЯ ПУТИ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AC6D0BC-6216-4B5C-8871-91E3176B992D}"/>
              </a:ext>
            </a:extLst>
          </p:cNvPr>
          <p:cNvSpPr txBox="1"/>
          <p:nvPr/>
        </p:nvSpPr>
        <p:spPr>
          <a:xfrm>
            <a:off x="571500" y="876300"/>
            <a:ext cx="104775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15211B"/>
                </a:solidFill>
                <a:latin typeface="Arial"/>
                <a:ea typeface="Arial"/>
              </a:rPr>
              <a:t>Линия маршрута — это тротуар, а не хорда между точками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65DA842-517A-4114-9D47-C13A1309A8B8}"/>
              </a:ext>
            </a:extLst>
          </p:cNvPr>
          <p:cNvSpPr/>
          <p:nvPr/>
        </p:nvSpPr>
        <p:spPr>
          <a:xfrm>
            <a:off x="571500" y="1619250"/>
            <a:ext cx="5334000" cy="2571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16E6D25-6E32-40EF-892B-867C616C4027}"/>
              </a:ext>
            </a:extLst>
          </p:cNvPr>
          <p:cNvSpPr/>
          <p:nvPr/>
        </p:nvSpPr>
        <p:spPr>
          <a:xfrm>
            <a:off x="6096000" y="1619250"/>
            <a:ext cx="5334000" cy="2571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A8D0854-DA8F-4FDE-8BA5-B729FDE91E15}"/>
              </a:ext>
            </a:extLst>
          </p:cNvPr>
          <p:cNvSpPr txBox="1"/>
          <p:nvPr/>
        </p:nvSpPr>
        <p:spPr>
          <a:xfrm>
            <a:off x="838200" y="1866900"/>
            <a:ext cx="4800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ЗАМЕР В РОСТОВЕ · ОДИН И ТОТ ЖЕ ПЕРЕХОД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4FA4D31-6F81-435C-B7E0-056D336270EF}"/>
              </a:ext>
            </a:extLst>
          </p:cNvPr>
          <p:cNvSpPr txBox="1"/>
          <p:nvPr/>
        </p:nvSpPr>
        <p:spPr>
          <a:xfrm>
            <a:off x="838200" y="2152650"/>
            <a:ext cx="48006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15211B"/>
                </a:solidFill>
                <a:latin typeface="Arial"/>
                <a:ea typeface="Arial"/>
              </a:rPr>
              <a:t>178 м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08B1C05-0B09-4376-9FBF-DB262742E8B2}"/>
              </a:ext>
            </a:extLst>
          </p:cNvPr>
          <p:cNvSpPr txBox="1"/>
          <p:nvPr/>
        </p:nvSpPr>
        <p:spPr>
          <a:xfrm>
            <a:off x="838200" y="2609850"/>
            <a:ext cx="4800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routing.openstreetmap.de/routed-foot — пешеходная графа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4AED90B-CC22-4606-BF4A-CD021126AA4C}"/>
              </a:ext>
            </a:extLst>
          </p:cNvPr>
          <p:cNvSpPr txBox="1"/>
          <p:nvPr/>
        </p:nvSpPr>
        <p:spPr>
          <a:xfrm>
            <a:off x="838200" y="2876550"/>
            <a:ext cx="48006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7F9A8B"/>
                </a:solidFill>
                <a:latin typeface="Arial"/>
                <a:ea typeface="Arial"/>
              </a:rPr>
              <a:t>1460 м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DF14866-AFEF-4613-B9BC-BF55A87D706B}"/>
              </a:ext>
            </a:extLst>
          </p:cNvPr>
          <p:cNvSpPr txBox="1"/>
          <p:nvPr/>
        </p:nvSpPr>
        <p:spPr>
          <a:xfrm>
            <a:off x="838200" y="3333750"/>
            <a:ext cx="4800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router.project-osrm.org — объезд пешеходной Большой Садовой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9269B76-7668-438C-91CB-8D934E97C29C}"/>
              </a:ext>
            </a:extLst>
          </p:cNvPr>
          <p:cNvSpPr txBox="1"/>
          <p:nvPr/>
        </p:nvSpPr>
        <p:spPr>
          <a:xfrm>
            <a:off x="838200" y="3638550"/>
            <a:ext cx="48006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7F9A8B"/>
                </a:solidFill>
                <a:latin typeface="Arial"/>
                <a:ea typeface="Arial"/>
                <a:cs typeface="Arial"/>
              </a:rPr>
              <a:t>Профиль задаёт хост: /route/v1/foot/ тоже отдаёт машины.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708C9B8-53CD-46DA-92A6-63B2C8044241}"/>
              </a:ext>
            </a:extLst>
          </p:cNvPr>
          <p:cNvSpPr txBox="1"/>
          <p:nvPr/>
        </p:nvSpPr>
        <p:spPr>
          <a:xfrm>
            <a:off x="6362700" y="1866900"/>
            <a:ext cx="4800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ЧТО МЫ БЕРЁМ У РОУТЕРА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6EA7C8F-45B0-4312-8E0B-B2DE99744FDB}"/>
              </a:ext>
            </a:extLst>
          </p:cNvPr>
          <p:cNvSpPr txBox="1"/>
          <p:nvPr/>
        </p:nvSpPr>
        <p:spPr>
          <a:xfrm>
            <a:off x="6362700" y="2152650"/>
            <a:ext cx="4800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Только расстояние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Метры уходят в ответ и в сверку итога прогулки.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5B16205-45C7-486F-BDB9-38F50C7270DF}"/>
              </a:ext>
            </a:extLst>
          </p:cNvPr>
          <p:cNvSpPr txBox="1"/>
          <p:nvPr/>
        </p:nvSpPr>
        <p:spPr>
          <a:xfrm>
            <a:off x="6362700" y="2743200"/>
            <a:ext cx="4800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Ни минуты его времени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Время в пути считает планировщик, а не роутер.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D4F2A23-544F-4830-8141-B7F18DA296EB}"/>
              </a:ext>
            </a:extLst>
          </p:cNvPr>
          <p:cNvSpPr txBox="1"/>
          <p:nvPr/>
        </p:nvSpPr>
        <p:spPr>
          <a:xfrm>
            <a:off x="6362700" y="3333750"/>
            <a:ext cx="4800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Публичный инстанс без ключа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Никаких лимитов и токенов на запрос посетителя.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0581739-7904-4B21-A8A1-D414E2F0E3F6}"/>
              </a:ext>
            </a:extLst>
          </p:cNvPr>
          <p:cNvSpPr/>
          <p:nvPr/>
        </p:nvSpPr>
        <p:spPr>
          <a:xfrm>
            <a:off x="571500" y="4476750"/>
            <a:ext cx="11049000" cy="1809750"/>
          </a:xfrm>
          <a:prstGeom prst="roundRect">
            <a:avLst/>
          </a:prstGeom>
          <a:solidFill>
            <a:srgbClr val="0F1E1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7CE7010-2E8F-4D00-87DC-B25E4FB9E700}"/>
              </a:ext>
            </a:extLst>
          </p:cNvPr>
          <p:cNvSpPr txBox="1"/>
          <p:nvPr/>
        </p:nvSpPr>
        <p:spPr>
          <a:xfrm>
            <a:off x="838200" y="4705350"/>
            <a:ext cx="10515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5FCF9A"/>
                </a:solidFill>
                <a:latin typeface="Arial"/>
                <a:ea typeface="Arial"/>
              </a:rPr>
              <a:t>ЕСЛИ РОУТЕР МОЛЧИТ — ДЕГРАДАЦИЯ ВИДНА, А НЕ СПРЯТАНА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11F7FE0-1338-4029-8C71-0FC491E2F81D}"/>
              </a:ext>
            </a:extLst>
          </p:cNvPr>
          <p:cNvSpPr txBox="1"/>
          <p:nvPr/>
        </p:nvSpPr>
        <p:spPr>
          <a:xfrm>
            <a:off x="838200" y="5048250"/>
            <a:ext cx="333375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  <a:ea typeface="Arial"/>
              </a:rPr>
              <a:t>6 сек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F300B71-13C3-460B-8CBC-CBEFD8756DB1}"/>
              </a:ext>
            </a:extLst>
          </p:cNvPr>
          <p:cNvSpPr txBox="1"/>
          <p:nvPr/>
        </p:nvSpPr>
        <p:spPr>
          <a:xfrm>
            <a:off x="4524375" y="5048250"/>
            <a:ext cx="333375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  <a:ea typeface="Arial"/>
              </a:rPr>
              <a:t>straight_line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F03390F-8830-4629-B156-95AC2D3A0518}"/>
              </a:ext>
            </a:extLst>
          </p:cNvPr>
          <p:cNvSpPr txBox="1"/>
          <p:nvPr/>
        </p:nvSpPr>
        <p:spPr>
          <a:xfrm>
            <a:off x="8210550" y="5048250"/>
            <a:ext cx="333375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  <a:ea typeface="Arial"/>
              </a:rPr>
              <a:t>Пунктир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2C9201D-3769-449D-A0A8-9D86160EF451}"/>
              </a:ext>
            </a:extLst>
          </p:cNvPr>
          <p:cNvSpPr txBox="1"/>
          <p:nvPr/>
        </p:nvSpPr>
        <p:spPr>
          <a:xfrm>
            <a:off x="838200" y="5467350"/>
            <a:ext cx="333375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Ждать общий сервер дольше — показать посетителю спиннер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BE6744B-F70F-41CC-9EC0-BA1042F6B7DD}"/>
              </a:ext>
            </a:extLst>
          </p:cNvPr>
          <p:cNvSpPr txBox="1"/>
          <p:nvPr/>
        </p:nvSpPr>
        <p:spPr>
          <a:xfrm>
            <a:off x="4524375" y="5467350"/>
            <a:ext cx="333375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geometry_source говорит, что измерение не удалось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82D1D15-9C10-4831-B42A-4AE0C5F2457F}"/>
              </a:ext>
            </a:extLst>
          </p:cNvPr>
          <p:cNvSpPr txBox="1"/>
          <p:nvPr/>
        </p:nvSpPr>
        <p:spPr>
          <a:xfrm>
            <a:off x="8210550" y="5467350"/>
            <a:ext cx="333375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Сплошной линией рисуем только измеренные переходы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495FE37-1360-47D8-B3D0-0DF277121D53}"/>
              </a:ext>
            </a:extLst>
          </p:cNvPr>
          <p:cNvSpPr txBox="1"/>
          <p:nvPr/>
        </p:nvSpPr>
        <p:spPr>
          <a:xfrm>
            <a:off x="571500" y="514350"/>
            <a:ext cx="666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ДАННЫЕ · КАК СОБРАН КАТАЛОГ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8B07B48-9E5F-4DDA-AB22-C1EA92DB8213}"/>
              </a:ext>
            </a:extLst>
          </p:cNvPr>
          <p:cNvSpPr txBox="1"/>
          <p:nvPr/>
        </p:nvSpPr>
        <p:spPr>
          <a:xfrm>
            <a:off x="571500" y="876300"/>
            <a:ext cx="104775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15211B"/>
                </a:solidFill>
                <a:latin typeface="Arial"/>
                <a:ea typeface="Arial"/>
              </a:rPr>
              <a:t>Места берутся из открытых источников и проходят порог качества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5D0656F-2510-4009-AC3C-AAE3CC84FB5A}"/>
              </a:ext>
            </a:extLst>
          </p:cNvPr>
          <p:cNvSpPr/>
          <p:nvPr/>
        </p:nvSpPr>
        <p:spPr>
          <a:xfrm>
            <a:off x="571500" y="1619250"/>
            <a:ext cx="6096000" cy="2952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D0B02B6-DC56-47D1-A982-3ED4B7ED19E4}"/>
              </a:ext>
            </a:extLst>
          </p:cNvPr>
          <p:cNvSpPr/>
          <p:nvPr/>
        </p:nvSpPr>
        <p:spPr>
          <a:xfrm>
            <a:off x="6858000" y="1619250"/>
            <a:ext cx="4762500" cy="2952750"/>
          </a:xfrm>
          <a:prstGeom prst="roundRect">
            <a:avLst/>
          </a:prstGeom>
          <a:solidFill>
            <a:srgbClr val="0F1E1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03067B3-200B-4315-81A0-B86FDDA5061F}"/>
              </a:ext>
            </a:extLst>
          </p:cNvPr>
          <p:cNvSpPr txBox="1"/>
          <p:nvPr/>
        </p:nvSpPr>
        <p:spPr>
          <a:xfrm>
            <a:off x="838200" y="1866900"/>
            <a:ext cx="5562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ЧТО ДАЁТ КАЖДЫЙ ИСТОЧНИК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F1BB672-F55A-4DE4-9799-1945B4D33ED2}"/>
              </a:ext>
            </a:extLst>
          </p:cNvPr>
          <p:cNvSpPr txBox="1"/>
          <p:nvPr/>
        </p:nvSpPr>
        <p:spPr>
          <a:xfrm>
            <a:off x="838200" y="2171700"/>
            <a:ext cx="5562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OpenStreetMap · Overpass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Координаты, категория, адрес, сайт и часы работы объекта.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3B1D928-223B-4881-94AD-7E713A0B2BA0}"/>
              </a:ext>
            </a:extLst>
          </p:cNvPr>
          <p:cNvSpPr txBox="1"/>
          <p:nvPr/>
        </p:nvSpPr>
        <p:spPr>
          <a:xfrm>
            <a:off x="838200" y="2762250"/>
            <a:ext cx="5562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Nominatim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Границы города: прямоугольник bbox, а не радиус вокруг точки.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833DFA8-0FE6-4C49-8818-77A8FA7B2950}"/>
              </a:ext>
            </a:extLst>
          </p:cNvPr>
          <p:cNvSpPr txBox="1"/>
          <p:nvPr/>
        </p:nvSpPr>
        <p:spPr>
          <a:xfrm>
            <a:off x="838200" y="3352800"/>
            <a:ext cx="5562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Викиданные · SPARQL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Название на русском и английском, описание, официальный сайт.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230C9AB-3506-4BF0-8CD4-FCD061CFA242}"/>
              </a:ext>
            </a:extLst>
          </p:cNvPr>
          <p:cNvSpPr txBox="1"/>
          <p:nvPr/>
        </p:nvSpPr>
        <p:spPr>
          <a:xfrm>
            <a:off x="838200" y="3943350"/>
            <a:ext cx="5562600" cy="63246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Wikimedia Commons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Фото и обязательная атрибуция: автор и лицензия уходят в provenance.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6C749BC-CA4D-492E-8BAB-B32C64A31875}"/>
              </a:ext>
            </a:extLst>
          </p:cNvPr>
          <p:cNvSpPr txBox="1"/>
          <p:nvPr/>
        </p:nvSpPr>
        <p:spPr>
          <a:xfrm>
            <a:off x="7124700" y="1866900"/>
            <a:ext cx="42291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5FCF9A"/>
                </a:solidFill>
                <a:latin typeface="Arial"/>
                <a:ea typeface="Arial"/>
              </a:rPr>
              <a:t>ЦИФРЫ КАТАЛОГА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356AAAA-71FF-41BD-A7ED-96E118154F64}"/>
              </a:ext>
            </a:extLst>
          </p:cNvPr>
          <p:cNvSpPr txBox="1"/>
          <p:nvPr/>
        </p:nvSpPr>
        <p:spPr>
          <a:xfrm>
            <a:off x="7124700" y="2171700"/>
            <a:ext cx="161925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90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ECC730B-9240-4583-89EF-3F621658ED12}"/>
              </a:ext>
            </a:extLst>
          </p:cNvPr>
          <p:cNvSpPr txBox="1"/>
          <p:nvPr/>
        </p:nvSpPr>
        <p:spPr>
          <a:xfrm>
            <a:off x="8763000" y="2209800"/>
            <a:ext cx="26098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мест Ростова после клона репозитория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D454A9F-5BE4-4117-B109-CECE50AC438B}"/>
              </a:ext>
            </a:extLst>
          </p:cNvPr>
          <p:cNvSpPr txBox="1"/>
          <p:nvPr/>
        </p:nvSpPr>
        <p:spPr>
          <a:xfrm>
            <a:off x="7124700" y="2743200"/>
            <a:ext cx="161925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43 + 47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1BA5489-CEFB-4334-A916-862CC1BCE304}"/>
              </a:ext>
            </a:extLst>
          </p:cNvPr>
          <p:cNvSpPr txBox="1"/>
          <p:nvPr/>
        </p:nvSpPr>
        <p:spPr>
          <a:xfrm>
            <a:off x="8763000" y="2781300"/>
            <a:ext cx="26098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ручная сверка и автокаталог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A651C51-EA2F-4D26-97BF-0D5A6F471D99}"/>
              </a:ext>
            </a:extLst>
          </p:cNvPr>
          <p:cNvSpPr txBox="1"/>
          <p:nvPr/>
        </p:nvSpPr>
        <p:spPr>
          <a:xfrm>
            <a:off x="7124700" y="3314700"/>
            <a:ext cx="161925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47 из 770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0ACE203-2A34-4C5A-A57E-86264A1C7B1B}"/>
              </a:ext>
            </a:extLst>
          </p:cNvPr>
          <p:cNvSpPr txBox="1"/>
          <p:nvPr/>
        </p:nvSpPr>
        <p:spPr>
          <a:xfrm>
            <a:off x="8763000" y="3352800"/>
            <a:ext cx="26098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объектов прошли порог публикации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8D98D92-D18B-458F-8585-C7A75581E97A}"/>
              </a:ext>
            </a:extLst>
          </p:cNvPr>
          <p:cNvSpPr txBox="1"/>
          <p:nvPr/>
        </p:nvSpPr>
        <p:spPr>
          <a:xfrm>
            <a:off x="7124700" y="3886200"/>
            <a:ext cx="161925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7F5D460-ED2C-4367-B91F-3A5770C38E00}"/>
              </a:ext>
            </a:extLst>
          </p:cNvPr>
          <p:cNvSpPr txBox="1"/>
          <p:nvPr/>
        </p:nvSpPr>
        <p:spPr>
          <a:xfrm>
            <a:off x="8763000" y="3924300"/>
            <a:ext cx="26098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написанных справок; у остальных 404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94BA42B-7059-47C9-8612-775401C23E14}"/>
              </a:ext>
            </a:extLst>
          </p:cNvPr>
          <p:cNvSpPr/>
          <p:nvPr/>
        </p:nvSpPr>
        <p:spPr>
          <a:xfrm>
            <a:off x="571500" y="4762500"/>
            <a:ext cx="11049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24A4222-0DC6-4F5C-AF37-2BCFDF818122}"/>
              </a:ext>
            </a:extLst>
          </p:cNvPr>
          <p:cNvSpPr txBox="1"/>
          <p:nvPr/>
        </p:nvSpPr>
        <p:spPr>
          <a:xfrm>
            <a:off x="838200" y="4972050"/>
            <a:ext cx="10515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НЕПРОВЕРЕННОЕ НЕ ВЫДАЁТСЯ ЗА ФАКТ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DCBAC32-6BB2-4FEB-8B93-508A542DA996}"/>
              </a:ext>
            </a:extLst>
          </p:cNvPr>
          <p:cNvSpPr txBox="1"/>
          <p:nvPr/>
        </p:nvSpPr>
        <p:spPr>
          <a:xfrm>
            <a:off x="838200" y="5276850"/>
            <a:ext cx="3333750" cy="7810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5211B"/>
                </a:solidFill>
                <a:latin typeface="Arial"/>
                <a:ea typeface="Arial"/>
              </a:rPr>
              <a:t>unverified_fields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В provenance лежат ссылки на OSM и Викиданные и перечень того, что не сверено.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C89C242-D50A-4A1C-86F2-718E03D643D2}"/>
              </a:ext>
            </a:extLst>
          </p:cNvPr>
          <p:cNvSpPr txBox="1"/>
          <p:nvPr/>
        </p:nvSpPr>
        <p:spPr>
          <a:xfrm>
            <a:off x="4524375" y="5276850"/>
            <a:ext cx="3333750" cy="7810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5211B"/>
                </a:solidFill>
                <a:latin typeface="Arial"/>
                <a:ea typeface="Arial"/>
              </a:rPr>
              <a:t>рейтинг по упоминаниям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Сколько независимых источников написало о месте, а не звёзды посетителей.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C70A98D-C3FB-40FF-AC19-DA6E5DBC4DDC}"/>
              </a:ext>
            </a:extLst>
          </p:cNvPr>
          <p:cNvSpPr txBox="1"/>
          <p:nvPr/>
        </p:nvSpPr>
        <p:spPr>
          <a:xfrm>
            <a:off x="8210550" y="5276850"/>
            <a:ext cx="3333750" cy="7810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5211B"/>
                </a:solidFill>
                <a:latin typeface="Arial"/>
                <a:ea typeface="Arial"/>
              </a:rPr>
              <a:t>403 — сорванный прогон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Пустой ответ Overpass не перезаписывает каталог: файл остаётся прежним.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486AD71-299A-489B-BC31-9160DF235277}"/>
              </a:ext>
            </a:extLst>
          </p:cNvPr>
          <p:cNvSpPr txBox="1"/>
          <p:nvPr/>
        </p:nvSpPr>
        <p:spPr>
          <a:xfrm>
            <a:off x="571500" y="514350"/>
            <a:ext cx="666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ИНЖЕНЕРИЯ · ЗАПУСК И ПРОВЕРКА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D9861B8-801B-4F29-B11B-7D41CEF7D210}"/>
              </a:ext>
            </a:extLst>
          </p:cNvPr>
          <p:cNvSpPr txBox="1"/>
          <p:nvPr/>
        </p:nvSpPr>
        <p:spPr>
          <a:xfrm>
            <a:off x="571500" y="876300"/>
            <a:ext cx="104775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15211B"/>
                </a:solidFill>
                <a:latin typeface="Arial"/>
                <a:ea typeface="Arial"/>
              </a:rPr>
              <a:t>Весь локальный стек — одной командой, без токенов и без .env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814E3EC-F933-43B5-82E6-3D68D4E47F67}"/>
              </a:ext>
            </a:extLst>
          </p:cNvPr>
          <p:cNvSpPr/>
          <p:nvPr/>
        </p:nvSpPr>
        <p:spPr>
          <a:xfrm>
            <a:off x="571500" y="1619250"/>
            <a:ext cx="5334000" cy="2762250"/>
          </a:xfrm>
          <a:prstGeom prst="roundRect">
            <a:avLst/>
          </a:prstGeom>
          <a:solidFill>
            <a:srgbClr val="0F1E1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8C4350F-1E5A-40C5-80B3-99CD4B590002}"/>
              </a:ext>
            </a:extLst>
          </p:cNvPr>
          <p:cNvSpPr/>
          <p:nvPr/>
        </p:nvSpPr>
        <p:spPr>
          <a:xfrm>
            <a:off x="6096000" y="1619250"/>
            <a:ext cx="5524500" cy="2762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0BC4C25-5D07-40B8-89C6-05AB6BB9CED9}"/>
              </a:ext>
            </a:extLst>
          </p:cNvPr>
          <p:cNvSpPr txBox="1"/>
          <p:nvPr/>
        </p:nvSpPr>
        <p:spPr>
          <a:xfrm>
            <a:off x="838200" y="1885950"/>
            <a:ext cx="4800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docker compose up --build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F854841-03EF-4338-943A-F88D9ABFB655}"/>
              </a:ext>
            </a:extLst>
          </p:cNvPr>
          <p:cNvSpPr txBox="1"/>
          <p:nvPr/>
        </p:nvSpPr>
        <p:spPr>
          <a:xfrm>
            <a:off x="838200" y="2362200"/>
            <a:ext cx="4800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FCF9A"/>
                </a:solidFill>
                <a:latin typeface="Arial"/>
                <a:ea typeface="Arial"/>
              </a:rPr>
              <a:t>:8080 — API: каталог, генератор маршрутов, справки, аналитика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FCC5604-FCD9-4E73-8F7A-24B1A9386FF4}"/>
              </a:ext>
            </a:extLst>
          </p:cNvPr>
          <p:cNvSpPr txBox="1"/>
          <p:nvPr/>
        </p:nvSpPr>
        <p:spPr>
          <a:xfrm>
            <a:off x="838200" y="2628900"/>
            <a:ext cx="4800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FCF9A"/>
                </a:solidFill>
                <a:latin typeface="Arial"/>
                <a:ea typeface="Arial"/>
              </a:rPr>
              <a:t>:8081 — Mini App на nginx, /api проксируется на бота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A486DF4-CBF1-4045-9775-3DCA88D96856}"/>
              </a:ext>
            </a:extLst>
          </p:cNvPr>
          <p:cNvSpPr txBox="1"/>
          <p:nvPr/>
        </p:nvSpPr>
        <p:spPr>
          <a:xfrm>
            <a:off x="838200" y="2895600"/>
            <a:ext cx="4800600" cy="36576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Пустой .env: токен-заглушка, AUTO_SETUP=false — к MAX никто не стучится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B99AEE6-C7D2-4E70-AD47-3FCA98A31EF3}"/>
              </a:ext>
            </a:extLst>
          </p:cNvPr>
          <p:cNvSpPr txBox="1"/>
          <p:nvPr/>
        </p:nvSpPr>
        <p:spPr>
          <a:xfrm>
            <a:off x="838200" y="3295650"/>
            <a:ext cx="4800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Сохранённые прогулки — в именованном томе bot-state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BCE3F89-4578-404B-804A-419F39105FEF}"/>
              </a:ext>
            </a:extLst>
          </p:cNvPr>
          <p:cNvSpPr txBox="1"/>
          <p:nvPr/>
        </p:nvSpPr>
        <p:spPr>
          <a:xfrm>
            <a:off x="838200" y="3562350"/>
            <a:ext cx="4800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Остановка и очистка: docker compose down -v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15B8006-9EA7-45B5-88E0-7C852F5DD25C}"/>
              </a:ext>
            </a:extLst>
          </p:cNvPr>
          <p:cNvSpPr txBox="1"/>
          <p:nvPr/>
        </p:nvSpPr>
        <p:spPr>
          <a:xfrm>
            <a:off x="838200" y="3828450"/>
            <a:ext cx="48006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7F9A8B"/>
                </a:solidFill>
                <a:latin typeface="Arial"/>
                <a:ea typeface="Arial"/>
              </a:rPr>
              <a:t>Проверено не глазами, а CI: job «docker compose up serves the whole local stack»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D8921E5-6236-42FB-8E0F-FDF2D6249317}"/>
              </a:ext>
            </a:extLst>
          </p:cNvPr>
          <p:cNvSpPr txBox="1"/>
          <p:nvPr/>
        </p:nvSpPr>
        <p:spPr>
          <a:xfrm>
            <a:off x="6362700" y="1866900"/>
            <a:ext cx="49911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ЧТО ПРОГОНЯЕТСЯ НА КАЖДОМ ПУШЕ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D352EFE-CE6C-4BDA-8ADD-D139443D19BD}"/>
              </a:ext>
            </a:extLst>
          </p:cNvPr>
          <p:cNvSpPr txBox="1"/>
          <p:nvPr/>
        </p:nvSpPr>
        <p:spPr>
          <a:xfrm>
            <a:off x="6362700" y="2133600"/>
            <a:ext cx="49911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pytest · 414 теста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Планировщик, каталог, geometry, навигация, упаковка образа.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6EFB871-D516-460E-928E-78D27641E64D}"/>
              </a:ext>
            </a:extLst>
          </p:cNvPr>
          <p:cNvSpPr txBox="1"/>
          <p:nvPr/>
        </p:nvSpPr>
        <p:spPr>
          <a:xfrm>
            <a:off x="6362700" y="2686050"/>
            <a:ext cx="49911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export_openapi.py --check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DATA-API.yaml и openapi.json сверяются с живым приложением.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182EC6B-9A9B-4F18-B004-6185E8D84F15}"/>
              </a:ext>
            </a:extLst>
          </p:cNvPr>
          <p:cNvSpPr txBox="1"/>
          <p:nvPr/>
        </p:nvSpPr>
        <p:spPr>
          <a:xfrm>
            <a:off x="6362700" y="3238500"/>
            <a:ext cx="49911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docker build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python:3.12-slim, контейнер работает под своим uid, не root.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68963F5-39CF-4BED-8970-ECCD194425B3}"/>
              </a:ext>
            </a:extLst>
          </p:cNvPr>
          <p:cNvSpPr txBox="1"/>
          <p:nvPr/>
        </p:nvSpPr>
        <p:spPr>
          <a:xfrm>
            <a:off x="6362700" y="3790950"/>
            <a:ext cx="49911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stack — весь стек целиком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Пять проверок: города, чипы, фронт, генератор и /docs.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98C754C1-A0F5-4BD7-BC80-A4694C9F2B3E}"/>
              </a:ext>
            </a:extLst>
          </p:cNvPr>
          <p:cNvSpPr/>
          <p:nvPr/>
        </p:nvSpPr>
        <p:spPr>
          <a:xfrm>
            <a:off x="571500" y="4572000"/>
            <a:ext cx="11049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7709A4A-7E95-454A-B750-113BA48FD679}"/>
              </a:ext>
            </a:extLst>
          </p:cNvPr>
          <p:cNvSpPr txBox="1"/>
          <p:nvPr/>
        </p:nvSpPr>
        <p:spPr>
          <a:xfrm>
            <a:off x="838200" y="4781550"/>
            <a:ext cx="10515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ЧТО ЛЕЖИТ В РЕПОЗИТОРИИ ДЛЯ ЭТОГО ПУНКТА ФОРМАТА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9797B45-1865-495C-936C-8D9DCE3EEE61}"/>
              </a:ext>
            </a:extLst>
          </p:cNvPr>
          <p:cNvSpPr txBox="1"/>
          <p:nvPr/>
        </p:nvSpPr>
        <p:spPr>
          <a:xfrm>
            <a:off x="838200" y="5067300"/>
            <a:ext cx="2476500" cy="916432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5211B"/>
                </a:solidFill>
                <a:latin typeface="Arial"/>
                <a:ea typeface="Arial"/>
              </a:rPr>
              <a:t>Dockerfile + frontend/Dockerfile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по образу на каждый локальный компонент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D75D5F7-75BE-410B-BBD1-0681CFCC39AC}"/>
              </a:ext>
            </a:extLst>
          </p:cNvPr>
          <p:cNvSpPr txBox="1"/>
          <p:nvPr/>
        </p:nvSpPr>
        <p:spPr>
          <a:xfrm>
            <a:off x="3514725" y="5067300"/>
            <a:ext cx="2476500" cy="8572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5211B"/>
                </a:solidFill>
                <a:latin typeface="Arial"/>
                <a:ea typeface="Arial"/>
              </a:rPr>
              <a:t>два .dockerignore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tests, .venv, база и .env не попадают в сборку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D25CF82-5EB6-4BE1-BAC3-BE3F297BF417}"/>
              </a:ext>
            </a:extLst>
          </p:cNvPr>
          <p:cNvSpPr txBox="1"/>
          <p:nvPr/>
        </p:nvSpPr>
        <p:spPr>
          <a:xfrm>
            <a:off x="6191250" y="5067300"/>
            <a:ext cx="2476500" cy="8572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5211B"/>
                </a:solidFill>
                <a:latin typeface="Arial"/>
                <a:ea typeface="Arial"/>
              </a:rPr>
              <a:t>.env.example без токенов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BOT_TOKEN — заглушка, WEBHOOK_SECRET пустой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3B4399A-D97B-4A40-B317-EEA528440397}"/>
              </a:ext>
            </a:extLst>
          </p:cNvPr>
          <p:cNvSpPr txBox="1"/>
          <p:nvPr/>
        </p:nvSpPr>
        <p:spPr>
          <a:xfrm>
            <a:off x="8867775" y="5067300"/>
            <a:ext cx="2476500" cy="8572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5211B"/>
                </a:solidFill>
                <a:latin typeface="Arial"/>
                <a:ea typeface="Arial"/>
              </a:rPr>
              <a:t>lock-файлы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requirements.txt со всеми ==, package-lock.json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2D23D37-9657-4F58-8561-CAB9CAD6F846}"/>
              </a:ext>
            </a:extLst>
          </p:cNvPr>
          <p:cNvSpPr txBox="1"/>
          <p:nvPr/>
        </p:nvSpPr>
        <p:spPr>
          <a:xfrm>
            <a:off x="571500" y="514350"/>
            <a:ext cx="666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КОНТРАКТ · ПРОВЕРКА СДАЧИ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2D0033E-BE20-4F0A-8080-835ED9A74773}"/>
              </a:ext>
            </a:extLst>
          </p:cNvPr>
          <p:cNvSpPr txBox="1"/>
          <p:nvPr/>
        </p:nvSpPr>
        <p:spPr>
          <a:xfrm>
            <a:off x="571500" y="876300"/>
            <a:ext cx="10477500" cy="73152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15211B"/>
                </a:solidFill>
                <a:latin typeface="Arial"/>
                <a:ea typeface="Arial"/>
              </a:rPr>
              <a:t>Спецификация сверяется с кодом, а проверки прогоняются на проде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707229F-A9F2-45A0-BF38-EBE0771B2AE5}"/>
              </a:ext>
            </a:extLst>
          </p:cNvPr>
          <p:cNvSpPr/>
          <p:nvPr/>
        </p:nvSpPr>
        <p:spPr>
          <a:xfrm>
            <a:off x="571500" y="1619250"/>
            <a:ext cx="5334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E7473A7-3F91-4F50-8AD1-1251C75CD21D}"/>
              </a:ext>
            </a:extLst>
          </p:cNvPr>
          <p:cNvSpPr/>
          <p:nvPr/>
        </p:nvSpPr>
        <p:spPr>
          <a:xfrm>
            <a:off x="6096000" y="1619250"/>
            <a:ext cx="5524500" cy="3048000"/>
          </a:xfrm>
          <a:prstGeom prst="roundRect">
            <a:avLst/>
          </a:prstGeom>
          <a:solidFill>
            <a:srgbClr val="0F1E1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1AC388E-9B4D-4A98-A6CB-C1E8681460BE}"/>
              </a:ext>
            </a:extLst>
          </p:cNvPr>
          <p:cNvSpPr txBox="1"/>
          <p:nvPr/>
        </p:nvSpPr>
        <p:spPr>
          <a:xfrm>
            <a:off x="838200" y="1866900"/>
            <a:ext cx="4800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ЧТО В КОНТРАКТЕ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152D369-861D-4399-9A96-FD6180A9A84C}"/>
              </a:ext>
            </a:extLst>
          </p:cNvPr>
          <p:cNvSpPr txBox="1"/>
          <p:nvPr/>
        </p:nvSpPr>
        <p:spPr>
          <a:xfrm>
            <a:off x="838200" y="2152650"/>
            <a:ext cx="4800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DATA-API.yaml · openapi.json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OpenAPI 3.1 в корне репозитория: 20 операций на 18 путях.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99906E4-17B3-4A41-86A9-B2FFEE011B4B}"/>
              </a:ext>
            </a:extLst>
          </p:cNvPr>
          <p:cNvSpPr txBox="1"/>
          <p:nvPr/>
        </p:nvSpPr>
        <p:spPr>
          <a:xfrm>
            <a:off x="838200" y="2762250"/>
            <a:ext cx="4800600" cy="63246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x-check: 10 обязательных проверок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метод, путь, параметры, роль, ожидаемые коды, content-type, поля.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AB59761-DBE4-4FC8-91D5-C2F92D88EAD9}"/>
              </a:ext>
            </a:extLst>
          </p:cNvPr>
          <p:cNvSpPr txBox="1"/>
          <p:nvPr/>
        </p:nvSpPr>
        <p:spPr>
          <a:xfrm>
            <a:off x="838200" y="3371850"/>
            <a:ext cx="4800600" cy="63246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export_openapi.py --check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Файл сравнивается с живым приложением, расхождение роняет CI.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F186BEC-05D8-4092-BC26-FA8C0624752A}"/>
              </a:ext>
            </a:extLst>
          </p:cNvPr>
          <p:cNvSpPr txBox="1"/>
          <p:nvPr/>
        </p:nvSpPr>
        <p:spPr>
          <a:xfrm>
            <a:off x="838200" y="3981450"/>
            <a:ext cx="480060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/docs и /openapi.json на проде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Спецификация рождается из того же кода, что отдаёт ответы.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EA8A54C-E8BC-438A-A62C-C714D90FC51B}"/>
              </a:ext>
            </a:extLst>
          </p:cNvPr>
          <p:cNvSpPr txBox="1"/>
          <p:nvPr/>
        </p:nvSpPr>
        <p:spPr>
          <a:xfrm>
            <a:off x="6362700" y="1866900"/>
            <a:ext cx="49911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5FCF9A"/>
                </a:solidFill>
                <a:latin typeface="Arial"/>
                <a:ea typeface="Arial"/>
              </a:rPr>
              <a:t>СЕГОДНЯ НА max.chestnyidiplom.ru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D10C9E1-6AFC-4A7E-9FA3-D2FFCACF0E89}"/>
              </a:ext>
            </a:extLst>
          </p:cNvPr>
          <p:cNvSpPr txBox="1"/>
          <p:nvPr/>
        </p:nvSpPr>
        <p:spPr>
          <a:xfrm>
            <a:off x="6362700" y="2171700"/>
            <a:ext cx="49911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200 · /api/v1/cities — один город, 90 мест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C33068E-66B1-43FA-BEFD-6446CE072528}"/>
              </a:ext>
            </a:extLst>
          </p:cNvPr>
          <p:cNvSpPr txBox="1"/>
          <p:nvPr/>
        </p:nvSpPr>
        <p:spPr>
          <a:xfrm>
            <a:off x="6362700" y="2476500"/>
            <a:ext cx="49911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200 · /api/v1/chips — 5 чипов, пустых нет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9765759-741A-44AE-BEA1-0B41829EDD5F}"/>
              </a:ext>
            </a:extLst>
          </p:cNvPr>
          <p:cNvSpPr txBox="1"/>
          <p:nvPr/>
        </p:nvSpPr>
        <p:spPr>
          <a:xfrm>
            <a:off x="6362700" y="2781300"/>
            <a:ext cx="49911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200 · /api/v1/places?tag=coffee — фильтр и заголовок пагинации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5AD2F3-ECFB-430B-B754-8FB23C9529D8}"/>
              </a:ext>
            </a:extLst>
          </p:cNvPr>
          <p:cNvSpPr txBox="1"/>
          <p:nvPr/>
        </p:nvSpPr>
        <p:spPr>
          <a:xfrm>
            <a:off x="6362700" y="3086100"/>
            <a:ext cx="49911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200 · /api/v1/routes/generate — 5 остановок, 135 минут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B79E920-54E9-4C31-8E42-2E714416A50C}"/>
              </a:ext>
            </a:extLst>
          </p:cNvPr>
          <p:cNvSpPr txBox="1"/>
          <p:nvPr/>
        </p:nvSpPr>
        <p:spPr>
          <a:xfrm>
            <a:off x="6362700" y="3390900"/>
            <a:ext cx="49911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200 · /api/v1/metrics/funnel?days=30 · /readyz · /docs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6A9E6B3-698B-4FA3-91EF-3BE4E7D1A749}"/>
              </a:ext>
            </a:extLst>
          </p:cNvPr>
          <p:cNvSpPr txBox="1"/>
          <p:nvPr/>
        </p:nvSpPr>
        <p:spPr>
          <a:xfrm>
            <a:off x="6362700" y="3695700"/>
            <a:ext cx="49911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FFFFF"/>
                </a:solidFill>
                <a:latin typeface="Arial"/>
                <a:ea typeface="Arial"/>
              </a:rPr>
              <a:t>200 · /openapi.json · HTTPS работает на время проверки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80E1B2D-6675-4770-8740-7453538F221B}"/>
              </a:ext>
            </a:extLst>
          </p:cNvPr>
          <p:cNvSpPr txBox="1"/>
          <p:nvPr/>
        </p:nvSpPr>
        <p:spPr>
          <a:xfrm>
            <a:off x="6362700" y="4000500"/>
            <a:ext cx="4991100" cy="4389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404 · /api/v1/places/16645410/guide — справок написано 8, пустой ответ ожидаем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C0B855D8-4C8A-4954-B89C-DB0B8E74C48C}"/>
              </a:ext>
            </a:extLst>
          </p:cNvPr>
          <p:cNvSpPr/>
          <p:nvPr/>
        </p:nvSpPr>
        <p:spPr>
          <a:xfrm>
            <a:off x="571500" y="4857750"/>
            <a:ext cx="11049000" cy="142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F8C30AF-6162-4B60-8AF2-5654742E9513}"/>
              </a:ext>
            </a:extLst>
          </p:cNvPr>
          <p:cNvSpPr txBox="1"/>
          <p:nvPr/>
        </p:nvSpPr>
        <p:spPr>
          <a:xfrm>
            <a:off x="838200" y="5067300"/>
            <a:ext cx="10515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ЧЕГО ПРОВЕРКА НА ПРОДЕ НЕ ВИДИТ — И ПОЧЕМУ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8166DE7-3554-4238-B598-F994811C9079}"/>
              </a:ext>
            </a:extLst>
          </p:cNvPr>
          <p:cNvSpPr txBox="1"/>
          <p:nvPr/>
        </p:nvSpPr>
        <p:spPr>
          <a:xfrm>
            <a:off x="838200" y="5353050"/>
            <a:ext cx="3143250" cy="8572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5211B"/>
                </a:solidFill>
                <a:latin typeface="Arial"/>
                <a:ea typeface="Arial"/>
              </a:rPr>
              <a:t>POST /routes и /events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Пишут в прод-базу, поэтому прогнаны тестами и CI, а не руками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9457612-3804-40DD-ABBD-C59BB21CF1C0}"/>
              </a:ext>
            </a:extLst>
          </p:cNvPr>
          <p:cNvSpPr txBox="1"/>
          <p:nvPr/>
        </p:nvSpPr>
        <p:spPr>
          <a:xfrm>
            <a:off x="4476750" y="5353050"/>
            <a:ext cx="3143250" cy="8572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5211B"/>
                </a:solidFill>
                <a:latin typeface="Arial"/>
                <a:ea typeface="Arial"/>
              </a:rPr>
              <a:t>POST /admin/ingest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Без INGEST_TOKEN отвечает 503: эндпоинт переписывает каталог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0BC0380-C1DF-472D-B4E5-FF728628755A}"/>
              </a:ext>
            </a:extLst>
          </p:cNvPr>
          <p:cNvSpPr txBox="1"/>
          <p:nvPr/>
        </p:nvSpPr>
        <p:spPr>
          <a:xfrm>
            <a:off x="8115300" y="5353050"/>
            <a:ext cx="3143250" cy="8572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5211B"/>
                </a:solidFill>
                <a:latin typeface="Arial"/>
                <a:ea typeface="Arial"/>
              </a:rPr>
              <a:t>Docker на этой машине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Локального прогона нет: стек поднимается в CI на чистом клоне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23B6A16-0C39-440D-8BBF-22A73BE5FEE5}"/>
              </a:ext>
            </a:extLst>
          </p:cNvPr>
          <p:cNvSpPr txBox="1"/>
          <p:nvPr/>
        </p:nvSpPr>
        <p:spPr>
          <a:xfrm>
            <a:off x="571500" y="514350"/>
            <a:ext cx="666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ИЗВЕСТНЫЕ ОГРАНИЧЕНИЯ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B57623F-047D-489E-AC8C-CE1D96DDFE0A}"/>
              </a:ext>
            </a:extLst>
          </p:cNvPr>
          <p:cNvSpPr txBox="1"/>
          <p:nvPr/>
        </p:nvSpPr>
        <p:spPr>
          <a:xfrm>
            <a:off x="571500" y="876300"/>
            <a:ext cx="104775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15211B"/>
                </a:solidFill>
                <a:latin typeface="Arial"/>
                <a:ea typeface="Arial"/>
              </a:rPr>
              <a:t>Что не прячем: те же ограничения, что перечислены в README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6D31F8C-D849-45D0-8875-BF64F47B0F1A}"/>
              </a:ext>
            </a:extLst>
          </p:cNvPr>
          <p:cNvSpPr/>
          <p:nvPr/>
        </p:nvSpPr>
        <p:spPr>
          <a:xfrm>
            <a:off x="571500" y="1524000"/>
            <a:ext cx="3552825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2E3B80A-B3D0-4C7A-BAE6-AE7AA5BC1632}"/>
              </a:ext>
            </a:extLst>
          </p:cNvPr>
          <p:cNvSpPr/>
          <p:nvPr/>
        </p:nvSpPr>
        <p:spPr>
          <a:xfrm>
            <a:off x="4314825" y="1524000"/>
            <a:ext cx="3552825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EC4B463-49EE-4F77-BBC6-8C3E7EFF0202}"/>
              </a:ext>
            </a:extLst>
          </p:cNvPr>
          <p:cNvSpPr/>
          <p:nvPr/>
        </p:nvSpPr>
        <p:spPr>
          <a:xfrm>
            <a:off x="8058150" y="1524000"/>
            <a:ext cx="3552825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1F6B136-06A9-4663-A559-56103DD94F68}"/>
              </a:ext>
            </a:extLst>
          </p:cNvPr>
          <p:cNvSpPr txBox="1"/>
          <p:nvPr/>
        </p:nvSpPr>
        <p:spPr>
          <a:xfrm>
            <a:off x="838200" y="1771650"/>
            <a:ext cx="3019425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ДАННЫЕ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29FAE2-196C-4038-AA7E-03A059E71337}"/>
              </a:ext>
            </a:extLst>
          </p:cNvPr>
          <p:cNvSpPr txBox="1"/>
          <p:nvPr/>
        </p:nvSpPr>
        <p:spPr>
          <a:xfrm>
            <a:off x="838200" y="2057400"/>
            <a:ext cx="3019425" cy="28575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Один город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Казань и Сочи на бою, в git — только Ростов.</a:t>
            </a:r>
          </a:p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Часть полей не сверена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Цена, часы и «Пушкинская» — в unverified_fields.</a:t>
            </a:r>
          </a:p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Время остановки — модель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Музей 45, театр 90, парк 60 минут.</a:t>
            </a:r>
          </a:p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Справок 8 на 90 мест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Остальные открываются с честным «ещё нет».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D5FB743-4E0A-47FB-B24E-3C9A129A8ABD}"/>
              </a:ext>
            </a:extLst>
          </p:cNvPr>
          <p:cNvSpPr txBox="1"/>
          <p:nvPr/>
        </p:nvSpPr>
        <p:spPr>
          <a:xfrm>
            <a:off x="4581525" y="1771650"/>
            <a:ext cx="3019425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МАРШРУТЫ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397FF60-6FAD-4AF2-A312-23CD6E4AAEB6}"/>
              </a:ext>
            </a:extLst>
          </p:cNvPr>
          <p:cNvSpPr txBox="1"/>
          <p:nvPr/>
        </p:nvSpPr>
        <p:spPr>
          <a:xfrm>
            <a:off x="4581525" y="2057400"/>
            <a:ext cx="3019425" cy="28575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Минуты — модель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План планировщика, а не ETA навигатора.</a:t>
            </a:r>
          </a:p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OSRM даёт только метры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Его пешеходный ETA — 27 км/ч.</a:t>
            </a:r>
          </a:p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Без роутера — хорда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Помечено в ответе, на карте пунктиром.</a:t>
            </a:r>
          </a:p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Резерв 15 %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Экран обязан показывать запас, а не прятать.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9CEC59B-A450-4F4C-B995-597D55F1F1CE}"/>
              </a:ext>
            </a:extLst>
          </p:cNvPr>
          <p:cNvSpPr txBox="1"/>
          <p:nvPr/>
        </p:nvSpPr>
        <p:spPr>
          <a:xfrm>
            <a:off x="8324850" y="1771650"/>
            <a:ext cx="3019425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КОНТУР И ИНТЕРФЕЙС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5B40E3C-C066-40DC-9A99-DF7B775FD4F9}"/>
              </a:ext>
            </a:extLst>
          </p:cNvPr>
          <p:cNvSpPr txBox="1"/>
          <p:nvPr/>
        </p:nvSpPr>
        <p:spPr>
          <a:xfrm>
            <a:off x="8324850" y="2057400"/>
            <a:ext cx="3019425" cy="28575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Аутентификации нет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user_id и session_id не проверяются.</a:t>
            </a:r>
          </a:p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Фронт события не шлёт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Две метрики пилота пока остаются null.</a:t>
            </a:r>
          </a:p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open_app требует привязки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Без неё кнопка откатывается на link.</a:t>
            </a:r>
          </a:p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Вебхуку нужен HTTPS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MAX не принимает http и отписывается за 8 ч.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6FA3C7A-36E6-4683-9081-62955BAE74F5}"/>
              </a:ext>
            </a:extLst>
          </p:cNvPr>
          <p:cNvSpPr/>
          <p:nvPr/>
        </p:nvSpPr>
        <p:spPr>
          <a:xfrm>
            <a:off x="571500" y="5143500"/>
            <a:ext cx="11049000" cy="1143000"/>
          </a:xfrm>
          <a:prstGeom prst="roundRect">
            <a:avLst/>
          </a:prstGeom>
          <a:solidFill>
            <a:srgbClr val="0F1E1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F998D2E-6E32-43F6-AAC8-91553022AEF7}"/>
              </a:ext>
            </a:extLst>
          </p:cNvPr>
          <p:cNvSpPr txBox="1"/>
          <p:nvPr/>
        </p:nvSpPr>
        <p:spPr>
          <a:xfrm>
            <a:off x="838200" y="5314950"/>
            <a:ext cx="10515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5FCF9A"/>
                </a:solidFill>
                <a:latin typeface="Arial"/>
                <a:ea typeface="Arial"/>
              </a:rPr>
              <a:t>ЧТО ДЕЛАЕМ ДАЛЬШЕ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BD2B809-9D8B-43A6-AF43-94578FF3C006}"/>
              </a:ext>
            </a:extLst>
          </p:cNvPr>
          <p:cNvSpPr txBox="1"/>
          <p:nvPr/>
        </p:nvSpPr>
        <p:spPr>
          <a:xfrm>
            <a:off x="838200" y="5600700"/>
            <a:ext cx="314325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  <a:ea typeface="Arial"/>
              </a:rPr>
              <a:t>атрибуция в интерфейсе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CC и ODbL требуют указывать автора.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BECE11A-EA00-4135-84E7-F64DEA038C81}"/>
              </a:ext>
            </a:extLst>
          </p:cNvPr>
          <p:cNvSpPr txBox="1"/>
          <p:nvPr/>
        </p:nvSpPr>
        <p:spPr>
          <a:xfrm>
            <a:off x="4476750" y="5600700"/>
            <a:ext cx="3143250" cy="675132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  <a:ea typeface="Arial"/>
              </a:rPr>
              <a:t>события с фронта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route_completed и route_rated выйдут из null.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0E1F4CA-7728-40BD-ADAF-616A3BBB2CB3}"/>
              </a:ext>
            </a:extLst>
          </p:cNvPr>
          <p:cNvSpPr txBox="1"/>
          <p:nvPr/>
        </p:nvSpPr>
        <p:spPr>
          <a:xfrm>
            <a:off x="8115300" y="5600700"/>
            <a:ext cx="314325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  <a:ea typeface="Arial"/>
              </a:rPr>
              <a:t>второй город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python -m ingest Казань — пайплайн умеет.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06AF87C-C438-42BD-A05D-A53D14B62E9E}"/>
              </a:ext>
            </a:extLst>
          </p:cNvPr>
          <p:cNvSpPr txBox="1"/>
          <p:nvPr/>
        </p:nvSpPr>
        <p:spPr>
          <a:xfrm>
            <a:off x="571500" y="514350"/>
            <a:ext cx="666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5FCF9A"/>
                </a:solidFill>
                <a:latin typeface="Arial"/>
                <a:ea typeface="Arial"/>
              </a:rPr>
              <a:t>ИТОГО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13704CF-4CBA-4137-AF0B-CC424467D3E3}"/>
              </a:ext>
            </a:extLst>
          </p:cNvPr>
          <p:cNvSpPr txBox="1"/>
          <p:nvPr/>
        </p:nvSpPr>
        <p:spPr>
          <a:xfrm>
            <a:off x="571500" y="952500"/>
            <a:ext cx="104775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</a:rPr>
              <a:t>Решение работает, API отвечает по HTTPS, весь стек поднимается одной командой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A9E308D-054D-4349-B477-D2CB3950B448}"/>
              </a:ext>
            </a:extLst>
          </p:cNvPr>
          <p:cNvSpPr txBox="1"/>
          <p:nvPr/>
        </p:nvSpPr>
        <p:spPr>
          <a:xfrm>
            <a:off x="571500" y="2857500"/>
            <a:ext cx="4953000" cy="2667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5FCF9A"/>
                </a:solidFill>
                <a:latin typeface="Arial"/>
                <a:ea typeface="Arial"/>
              </a:rPr>
              <a:t>ГДЕ СМОТРЕТЬ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Arial"/>
                <a:ea typeface="Arial"/>
              </a:rPr>
              <a:t>Репозиторий · github.com/san4EZzzZZZ/hackaton_max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Arial"/>
                <a:ea typeface="Arial"/>
              </a:rPr>
              <a:t>Mini App и API · https://max.chestnyidiplom.ru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Arial"/>
                <a:ea typeface="Arial"/>
              </a:rPr>
              <a:t>Бот в MAX · @t91_hakaton_max_bot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Arial"/>
                <a:ea typeface="Arial"/>
              </a:rPr>
              <a:t>Спецификация · /docs · openapi.json · DATA-API.yaml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Arial"/>
                <a:ea typeface="Arial"/>
              </a:rPr>
              <a:t>Пошаговая проверка · README.md, 13 шагов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BAC10B7-B2A6-49AA-A22A-B1A1AA4AACB7}"/>
              </a:ext>
            </a:extLst>
          </p:cNvPr>
          <p:cNvSpPr/>
          <p:nvPr/>
        </p:nvSpPr>
        <p:spPr>
          <a:xfrm>
            <a:off x="5905500" y="2857500"/>
            <a:ext cx="5715000" cy="2857500"/>
          </a:xfrm>
          <a:prstGeom prst="roundRect">
            <a:avLst/>
          </a:prstGeom>
          <a:solidFill>
            <a:srgbClr val="16291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BC9559D-B514-4978-B1B5-41A9BDE8628D}"/>
              </a:ext>
            </a:extLst>
          </p:cNvPr>
          <p:cNvSpPr txBox="1"/>
          <p:nvPr/>
        </p:nvSpPr>
        <p:spPr>
          <a:xfrm>
            <a:off x="6172200" y="3105150"/>
            <a:ext cx="5181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5FCF9A"/>
                </a:solidFill>
                <a:latin typeface="Arial"/>
                <a:ea typeface="Arial"/>
              </a:rPr>
              <a:t>ЗАСТЫВШАЯ ВЕРСИЯ · ANNOTATED GIT TAG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7A2667A-F268-4094-94DA-D80DFB1D3F48}"/>
              </a:ext>
            </a:extLst>
          </p:cNvPr>
          <p:cNvSpPr txBox="1"/>
          <p:nvPr/>
        </p:nvSpPr>
        <p:spPr>
          <a:xfrm>
            <a:off x="6172200" y="3390900"/>
            <a:ext cx="51816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Arial"/>
              </a:rPr>
              <a:t>submitted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2614F5-43EB-4E8A-BD5A-97FE8D41C7DC}"/>
              </a:ext>
            </a:extLst>
          </p:cNvPr>
          <p:cNvSpPr txBox="1"/>
          <p:nvPr/>
        </p:nvSpPr>
        <p:spPr>
          <a:xfrm>
            <a:off x="6172200" y="3867150"/>
            <a:ext cx="5181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B9CFC2"/>
                </a:solidFill>
                <a:latin typeface="Arial"/>
                <a:ea typeface="Arial"/>
              </a:rPr>
              <a:t>9425325818095eadd77aede521fc7b3d775e80f8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E5CB0E0-FD27-48A6-A6DB-629B02DA38C2}"/>
              </a:ext>
            </a:extLst>
          </p:cNvPr>
          <p:cNvSpPr txBox="1"/>
          <p:nvPr/>
        </p:nvSpPr>
        <p:spPr>
          <a:xfrm>
            <a:off x="6172200" y="4114800"/>
            <a:ext cx="5181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7F9A8B"/>
                </a:solidFill>
                <a:latin typeface="Arial"/>
                <a:ea typeface="Arial"/>
              </a:rPr>
              <a:t>git rev-parse submitted^{commit} · прод развёрнут из main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E6B08C1-EFFF-4EE6-9AA6-B937DFFBE578}"/>
              </a:ext>
            </a:extLst>
          </p:cNvPr>
          <p:cNvSpPr txBox="1"/>
          <p:nvPr/>
        </p:nvSpPr>
        <p:spPr>
          <a:xfrm>
            <a:off x="6172200" y="4572000"/>
            <a:ext cx="123825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90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317BE22-EEFE-45A0-8034-B8315C32F9EB}"/>
              </a:ext>
            </a:extLst>
          </p:cNvPr>
          <p:cNvSpPr txBox="1"/>
          <p:nvPr/>
        </p:nvSpPr>
        <p:spPr>
          <a:xfrm>
            <a:off x="7505700" y="4572000"/>
            <a:ext cx="123825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20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9430343-BEA6-4099-9EB1-23D7B2FCF3A0}"/>
              </a:ext>
            </a:extLst>
          </p:cNvPr>
          <p:cNvSpPr txBox="1"/>
          <p:nvPr/>
        </p:nvSpPr>
        <p:spPr>
          <a:xfrm>
            <a:off x="8839200" y="4572000"/>
            <a:ext cx="123825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414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FF56574-A0D6-4E76-9D95-63B38D24CBC8}"/>
              </a:ext>
            </a:extLst>
          </p:cNvPr>
          <p:cNvSpPr txBox="1"/>
          <p:nvPr/>
        </p:nvSpPr>
        <p:spPr>
          <a:xfrm>
            <a:off x="10172700" y="4572000"/>
            <a:ext cx="123825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A519BEE-3556-4C36-806F-779703663E50}"/>
              </a:ext>
            </a:extLst>
          </p:cNvPr>
          <p:cNvSpPr txBox="1"/>
          <p:nvPr/>
        </p:nvSpPr>
        <p:spPr>
          <a:xfrm>
            <a:off x="6172200" y="4933950"/>
            <a:ext cx="1238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B9CFC2"/>
                </a:solidFill>
                <a:latin typeface="Arial"/>
                <a:ea typeface="Arial"/>
              </a:rPr>
              <a:t>мест в каталоге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CAE3732-AEF7-42AB-8941-460FAEC1DB75}"/>
              </a:ext>
            </a:extLst>
          </p:cNvPr>
          <p:cNvSpPr txBox="1"/>
          <p:nvPr/>
        </p:nvSpPr>
        <p:spPr>
          <a:xfrm>
            <a:off x="7505700" y="4933950"/>
            <a:ext cx="1238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B9CFC2"/>
                </a:solidFill>
                <a:latin typeface="Arial"/>
                <a:ea typeface="Arial"/>
              </a:rPr>
              <a:t>операций API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CFCA040-54D7-471B-88D4-15F2ED47612E}"/>
              </a:ext>
            </a:extLst>
          </p:cNvPr>
          <p:cNvSpPr txBox="1"/>
          <p:nvPr/>
        </p:nvSpPr>
        <p:spPr>
          <a:xfrm>
            <a:off x="8839200" y="4933950"/>
            <a:ext cx="1238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B9CFC2"/>
                </a:solidFill>
                <a:latin typeface="Arial"/>
                <a:ea typeface="Arial"/>
              </a:rPr>
              <a:t>теста pytest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5C64A85-8C2E-4742-BEEE-E1B86A41A706}"/>
              </a:ext>
            </a:extLst>
          </p:cNvPr>
          <p:cNvSpPr txBox="1"/>
          <p:nvPr/>
        </p:nvSpPr>
        <p:spPr>
          <a:xfrm>
            <a:off x="10172700" y="4933950"/>
            <a:ext cx="1238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B9CFC2"/>
                </a:solidFill>
                <a:latin typeface="Arial"/>
                <a:ea typeface="Arial"/>
              </a:rPr>
              <a:t>проверок x-check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958A37C-7EA0-4907-A6B0-43B3EC66047C}"/>
              </a:ext>
            </a:extLst>
          </p:cNvPr>
          <p:cNvSpPr txBox="1"/>
          <p:nvPr/>
        </p:nvSpPr>
        <p:spPr>
          <a:xfrm>
            <a:off x="571500" y="6096000"/>
            <a:ext cx="11049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7F9A8B"/>
                </a:solidFill>
                <a:latin typeface="Arial"/>
                <a:ea typeface="Arial"/>
              </a:rPr>
              <a:t>Токены не в репозитории: в .env.example только заглушки, боевые значения — в закрытом канале.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C2A318E-2AB9-4DC3-80E5-363DD3FD2C12}"/>
              </a:ext>
            </a:extLst>
          </p:cNvPr>
          <p:cNvSpPr txBox="1"/>
          <p:nvPr/>
        </p:nvSpPr>
        <p:spPr>
          <a:xfrm>
            <a:off x="571500" y="514350"/>
            <a:ext cx="666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ПИЛОТ · АНАЛИТИКА §8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F42B2F9-966A-4B09-95D5-8C2657A11132}"/>
              </a:ext>
            </a:extLst>
          </p:cNvPr>
          <p:cNvSpPr txBox="1"/>
          <p:nvPr/>
        </p:nvSpPr>
        <p:spPr>
          <a:xfrm>
            <a:off x="571500" y="876300"/>
            <a:ext cx="104775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15211B"/>
                </a:solidFill>
                <a:latin typeface="Arial"/>
                <a:ea typeface="Arial"/>
              </a:rPr>
              <a:t>Семь метрик продукта считаются событиями, а не обещаны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F5844F3-7892-48C6-83FB-5B2E2B368EFB}"/>
              </a:ext>
            </a:extLst>
          </p:cNvPr>
          <p:cNvSpPr/>
          <p:nvPr/>
        </p:nvSpPr>
        <p:spPr>
          <a:xfrm>
            <a:off x="571500" y="1524000"/>
            <a:ext cx="66675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E574164-D290-499F-AFD1-C26E12483E93}"/>
              </a:ext>
            </a:extLst>
          </p:cNvPr>
          <p:cNvSpPr/>
          <p:nvPr/>
        </p:nvSpPr>
        <p:spPr>
          <a:xfrm>
            <a:off x="7429500" y="1524000"/>
            <a:ext cx="4191000" cy="3048000"/>
          </a:xfrm>
          <a:prstGeom prst="roundRect">
            <a:avLst/>
          </a:prstGeom>
          <a:solidFill>
            <a:srgbClr val="0F1E1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2A4E0A7-3030-4966-85E1-E0308A26EC2A}"/>
              </a:ext>
            </a:extLst>
          </p:cNvPr>
          <p:cNvSpPr txBox="1"/>
          <p:nvPr/>
        </p:nvSpPr>
        <p:spPr>
          <a:xfrm>
            <a:off x="838200" y="1771650"/>
            <a:ext cx="61341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СОБЫТИЯ ВОРОНКИ — ИМЕНА ИЗ §8 ДОСЛОВНО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4F80306-8A49-4DE5-B7AC-24E228DC99CC}"/>
              </a:ext>
            </a:extLst>
          </p:cNvPr>
          <p:cNvSpPr txBox="1"/>
          <p:nvPr/>
        </p:nvSpPr>
        <p:spPr>
          <a:xfrm>
            <a:off x="838200" y="2114550"/>
            <a:ext cx="2952750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15211B"/>
                </a:solidFill>
                <a:latin typeface="Arial"/>
                <a:ea typeface="Arial"/>
              </a:rPr>
              <a:t>miniapp_open · открытие приложения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15211B"/>
                </a:solidFill>
                <a:latin typeface="Arial"/>
                <a:ea typeface="Arial"/>
              </a:rPr>
              <a:t>route_setup_started · начата настройка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15211B"/>
                </a:solidFill>
                <a:latin typeface="Arial"/>
                <a:ea typeface="Arial"/>
              </a:rPr>
              <a:t>route_generated · маршрут показан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15211B"/>
                </a:solidFill>
                <a:latin typeface="Arial"/>
                <a:ea typeface="Arial"/>
              </a:rPr>
              <a:t>route_started · прогулка начата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61C727-6376-44CC-9126-6B41A30A6642}"/>
              </a:ext>
            </a:extLst>
          </p:cNvPr>
          <p:cNvSpPr txBox="1"/>
          <p:nvPr/>
        </p:nvSpPr>
        <p:spPr>
          <a:xfrm>
            <a:off x="4019550" y="2114550"/>
            <a:ext cx="2952750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15211B"/>
                </a:solidFill>
                <a:latin typeface="Arial"/>
                <a:ea typeface="Arial"/>
              </a:rPr>
              <a:t>poi_opened · открыта карточка места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15211B"/>
                </a:solidFill>
                <a:latin typeface="Arial"/>
                <a:ea typeface="Arial"/>
              </a:rPr>
              <a:t>route_completed · завершение прогулки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15211B"/>
                </a:solidFill>
                <a:latin typeface="Arial"/>
                <a:ea typeface="Arial"/>
              </a:rPr>
              <a:t>route_rated · оценка прогулки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7F9A8B"/>
                </a:solidFill>
                <a:latin typeface="Arial"/>
                <a:ea typeface="Arial"/>
              </a:rPr>
              <a:t>client_error · восьмого в §8 нет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6A1D174-2A85-49CC-8054-D53B3DC7CA76}"/>
              </a:ext>
            </a:extLst>
          </p:cNvPr>
          <p:cNvSpPr txBox="1"/>
          <p:nvPr/>
        </p:nvSpPr>
        <p:spPr>
          <a:xfrm>
            <a:off x="7696200" y="1771650"/>
            <a:ext cx="3657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5FCF9A"/>
                </a:solidFill>
                <a:latin typeface="Arial"/>
                <a:ea typeface="Arial"/>
              </a:rPr>
              <a:t>КАК ОНИ СЧИТАЮТСЯ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8BB7A14-178E-44A5-9307-70C615BA943F}"/>
              </a:ext>
            </a:extLst>
          </p:cNvPr>
          <p:cNvSpPr txBox="1"/>
          <p:nvPr/>
        </p:nvSpPr>
        <p:spPr>
          <a:xfrm>
            <a:off x="7696200" y="2114550"/>
            <a:ext cx="3657600" cy="7620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  <a:ea typeface="Arial"/>
              </a:rPr>
              <a:t>null, а не 0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Нет наблюдений — отдельная новость, а не нулевая конверсия.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BE186B9-397B-4021-AB74-2BA1E62E1FD8}"/>
              </a:ext>
            </a:extLst>
          </p:cNvPr>
          <p:cNvSpPr txBox="1"/>
          <p:nvPr/>
        </p:nvSpPr>
        <p:spPr>
          <a:xfrm>
            <a:off x="7696200" y="2914650"/>
            <a:ext cx="3657600" cy="7620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  <a:ea typeface="Arial"/>
              </a:rPr>
              <a:t>медиана и время сервера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Часы клиента не превратили бы метрику в погрешность этих часов.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013F309-5811-4A4C-A060-EEC38B65F037}"/>
              </a:ext>
            </a:extLst>
          </p:cNvPr>
          <p:cNvSpPr txBox="1"/>
          <p:nvPr/>
        </p:nvSpPr>
        <p:spPr>
          <a:xfrm>
            <a:off x="7696200" y="3714750"/>
            <a:ext cx="3657600" cy="7620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  <a:ea typeface="Arial"/>
              </a:rPr>
              <a:t>доля — по сессиям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B9CFC2"/>
                </a:solidFill>
                <a:latin typeface="Arial"/>
                <a:ea typeface="Arial"/>
              </a:rPr>
              <a:t>Ретрай не удваивает конверсию; рейтинг без оценки — 422.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0CDFC92-9B2D-45FA-BC8D-D23BE3D6D921}"/>
              </a:ext>
            </a:extLst>
          </p:cNvPr>
          <p:cNvSpPr/>
          <p:nvPr/>
        </p:nvSpPr>
        <p:spPr>
          <a:xfrm>
            <a:off x="571500" y="4762500"/>
            <a:ext cx="11049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24A6A5C-342A-49C6-8ACA-C61E45A6BAC4}"/>
              </a:ext>
            </a:extLst>
          </p:cNvPr>
          <p:cNvSpPr txBox="1"/>
          <p:nvPr/>
        </p:nvSpPr>
        <p:spPr>
          <a:xfrm>
            <a:off x="838200" y="4972050"/>
            <a:ext cx="10515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ГДЕ СЕЙЧАС ЦИФРЫ — ЧЕСТНО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73FB774-468E-4C46-A37A-8EA16F3D4CAE}"/>
              </a:ext>
            </a:extLst>
          </p:cNvPr>
          <p:cNvSpPr txBox="1"/>
          <p:nvPr/>
        </p:nvSpPr>
        <p:spPr>
          <a:xfrm>
            <a:off x="838200" y="5257800"/>
            <a:ext cx="314325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GET /metrics/funnel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Отдаёт семь строк с формулировкой, целью и собственным знаменателем.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D147AAB-EEA5-4C9C-8B65-A5038F71793B}"/>
              </a:ext>
            </a:extLst>
          </p:cNvPr>
          <p:cNvSpPr txBox="1"/>
          <p:nvPr/>
        </p:nvSpPr>
        <p:spPr>
          <a:xfrm>
            <a:off x="4476750" y="5257800"/>
            <a:ext cx="314325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прод: sessions 2, events 3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Это наши же проверки; реальных посетителей пилота ещё не было.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A46DAC3-4709-4847-924F-16D0D0A9B558}"/>
              </a:ext>
            </a:extLst>
          </p:cNvPr>
          <p:cNvSpPr txBox="1"/>
          <p:nvPr/>
        </p:nvSpPr>
        <p:spPr>
          <a:xfrm>
            <a:off x="8115300" y="5257800"/>
            <a:ext cx="314325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5211B"/>
                </a:solidFill>
                <a:latin typeface="Arial"/>
                <a:ea typeface="Arial"/>
              </a:rPr>
              <a:t>фронт события не шлёт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route_completed и route_rated остаются null, пока клиент не начнёт писать.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44480BC-A59B-4DE1-9EAF-524B1516A968}"/>
              </a:ext>
            </a:extLst>
          </p:cNvPr>
          <p:cNvSpPr txBox="1"/>
          <p:nvPr/>
        </p:nvSpPr>
        <p:spPr>
          <a:xfrm>
            <a:off x="571500" y="514350"/>
            <a:ext cx="7620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7A4F"/>
                </a:solidFill>
                <a:latin typeface="Arial"/>
                <a:ea typeface="Arial"/>
              </a:rPr>
              <a:t>ОСНОВНОЙ ПОЛЬЗОВАТЕЛЬСКИЙ СЦЕНАРИЙ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407682D-CFA0-4B04-B80F-6FBAAF642D5C}"/>
              </a:ext>
            </a:extLst>
          </p:cNvPr>
          <p:cNvSpPr txBox="1"/>
          <p:nvPr/>
        </p:nvSpPr>
        <p:spPr>
          <a:xfrm>
            <a:off x="571500" y="876300"/>
            <a:ext cx="104775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15211B"/>
                </a:solidFill>
                <a:latin typeface="Arial"/>
                <a:ea typeface="Arial"/>
              </a:rPr>
              <a:t>От сообщения боту до пройденной прогулки — пять шагов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9686DE8-44C3-4879-9A11-7008FEF5C464}"/>
              </a:ext>
            </a:extLst>
          </p:cNvPr>
          <p:cNvSpPr/>
          <p:nvPr/>
        </p:nvSpPr>
        <p:spPr>
          <a:xfrm>
            <a:off x="571500" y="1619250"/>
            <a:ext cx="2171700" cy="609600"/>
          </a:xfrm>
          <a:prstGeom prst="chevron">
            <a:avLst/>
          </a:prstGeom>
          <a:solidFill>
            <a:srgbClr val="1B7A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74DFB66-DB83-4091-80B6-759065F13A69}"/>
              </a:ext>
            </a:extLst>
          </p:cNvPr>
          <p:cNvSpPr/>
          <p:nvPr/>
        </p:nvSpPr>
        <p:spPr>
          <a:xfrm>
            <a:off x="2838450" y="1619250"/>
            <a:ext cx="2171700" cy="609600"/>
          </a:xfrm>
          <a:prstGeom prst="chevron">
            <a:avLst/>
          </a:prstGeom>
          <a:solidFill>
            <a:srgbClr val="1B7A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952CC6C-01DB-43E1-B2D6-0B642AE5E7A4}"/>
              </a:ext>
            </a:extLst>
          </p:cNvPr>
          <p:cNvSpPr/>
          <p:nvPr/>
        </p:nvSpPr>
        <p:spPr>
          <a:xfrm>
            <a:off x="5105400" y="1619250"/>
            <a:ext cx="2171700" cy="609600"/>
          </a:xfrm>
          <a:prstGeom prst="chevron">
            <a:avLst/>
          </a:prstGeom>
          <a:solidFill>
            <a:srgbClr val="1B7A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DDAB7C4-8D41-4C71-AB21-5DEC334FCFFE}"/>
              </a:ext>
            </a:extLst>
          </p:cNvPr>
          <p:cNvSpPr/>
          <p:nvPr/>
        </p:nvSpPr>
        <p:spPr>
          <a:xfrm>
            <a:off x="7372350" y="1619250"/>
            <a:ext cx="2171700" cy="609600"/>
          </a:xfrm>
          <a:prstGeom prst="chevron">
            <a:avLst/>
          </a:prstGeom>
          <a:solidFill>
            <a:srgbClr val="1B7A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2CA2167-8CC0-4DC9-8C87-3A53E70AEB12}"/>
              </a:ext>
            </a:extLst>
          </p:cNvPr>
          <p:cNvSpPr/>
          <p:nvPr/>
        </p:nvSpPr>
        <p:spPr>
          <a:xfrm>
            <a:off x="9639300" y="1619250"/>
            <a:ext cx="2171700" cy="609600"/>
          </a:xfrm>
          <a:prstGeom prst="chevron">
            <a:avLst/>
          </a:prstGeom>
          <a:solidFill>
            <a:srgbClr val="1B7A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5CE61A4-DD56-4327-A2FD-2A548F26BF4F}"/>
              </a:ext>
            </a:extLst>
          </p:cNvPr>
          <p:cNvSpPr txBox="1"/>
          <p:nvPr/>
        </p:nvSpPr>
        <p:spPr>
          <a:xfrm>
            <a:off x="723900" y="2381250"/>
            <a:ext cx="1905000" cy="2190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1 · Бот в MAX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«Старт» или любое сообщение: приветствие и inline-клавиатура с кнопкой Mini App. Непривязанный open_app роняет сообщение — есть откат на link.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008E63F-5C4A-44C1-BA2A-39DC9518E5D4}"/>
              </a:ext>
            </a:extLst>
          </p:cNvPr>
          <p:cNvSpPr txBox="1"/>
          <p:nvPr/>
        </p:nvSpPr>
        <p:spPr>
          <a:xfrm>
            <a:off x="2990850" y="2381250"/>
            <a:ext cx="1905000" cy="2190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2 · Город и чипы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GET /cities и GET /chips?city=. Счётчик мест на чипе и список карточек считают по одному предикату.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B637F23-2298-40C2-A449-287465AE42BC}"/>
              </a:ext>
            </a:extLst>
          </p:cNvPr>
          <p:cNvSpPr txBox="1"/>
          <p:nvPr/>
        </p:nvSpPr>
        <p:spPr>
          <a:xfrm>
            <a:off x="5257800" y="2381250"/>
            <a:ext cx="1905000" cy="2190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3 · Время и бюджет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1–4 часа, бюджет в рублях, точка старта из этого же каталога: поиск /places?q=.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1498B93-C0EA-4532-B4F4-3A9C11CDF939}"/>
              </a:ext>
            </a:extLst>
          </p:cNvPr>
          <p:cNvSpPr txBox="1"/>
          <p:nvPr/>
        </p:nvSpPr>
        <p:spPr>
          <a:xfrm>
            <a:off x="7524750" y="2381250"/>
            <a:ext cx="1905000" cy="2190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4 · Маршрут на карте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Остановки по порядку, минуты перехода, метры пешком и geometry_from_prev — линия по пешеходной графе.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0C05C72-B0B8-439F-92E5-B07DC5444286}"/>
              </a:ext>
            </a:extLst>
          </p:cNvPr>
          <p:cNvSpPr txBox="1"/>
          <p:nvPr/>
        </p:nvSpPr>
        <p:spPr>
          <a:xfrm>
            <a:off x="9791700" y="2381250"/>
            <a:ext cx="1905000" cy="2190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211B"/>
                </a:solidFill>
                <a:latin typeface="Arial"/>
                <a:ea typeface="Arial"/>
              </a:rPr>
              <a:t>5 · Навигация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«Я на месте» — карточка со справкой и соседями. «Завершить прогулку» — итог: пройдено и затрачено против плана.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CAF79F13-02A0-4950-8AC5-A7E831103F01}"/>
              </a:ext>
            </a:extLst>
          </p:cNvPr>
          <p:cNvSpPr/>
          <p:nvPr/>
        </p:nvSpPr>
        <p:spPr>
          <a:xfrm>
            <a:off x="571500" y="4667250"/>
            <a:ext cx="110490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DC5F68A-5C67-4208-9F2D-9B9A88FADF38}"/>
              </a:ext>
            </a:extLst>
          </p:cNvPr>
          <p:cNvSpPr txBox="1"/>
          <p:nvPr/>
        </p:nvSpPr>
        <p:spPr>
          <a:xfrm>
            <a:off x="838200" y="4876800"/>
            <a:ext cx="10515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B7A4F"/>
                </a:solidFill>
                <a:latin typeface="Arial"/>
                <a:ea typeface="Arial"/>
              </a:rPr>
              <a:t>ОДИН ЗАПРОС ВМЕСТО ЧЕТЫРЁХ ЭКРАНОВ КОДА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36F81AE-6772-44C3-89B7-A94626E6E0AB}"/>
              </a:ext>
            </a:extLst>
          </p:cNvPr>
          <p:cNvSpPr txBox="1"/>
          <p:nvPr/>
        </p:nvSpPr>
        <p:spPr>
          <a:xfrm>
            <a:off x="838200" y="5181600"/>
            <a:ext cx="10515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5211B"/>
                </a:solidFill>
                <a:latin typeface="Arial"/>
                <a:ea typeface="Arial"/>
              </a:rPr>
              <a:t>POST /api/v1/routes/generate   {"city":"Ростов-на-Дону","tags":["culture"],"duration_hours":3,"max_budget":800}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C3F5A41-9172-4348-82E2-933EC4CC2CCB}"/>
              </a:ext>
            </a:extLst>
          </p:cNvPr>
          <p:cNvSpPr txBox="1"/>
          <p:nvPr/>
        </p:nvSpPr>
        <p:spPr>
          <a:xfrm>
            <a:off x="838200" y="5486400"/>
            <a:ext cx="105156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4A5A50"/>
                </a:solidFill>
                <a:latin typeface="Arial"/>
                <a:ea typeface="Arial"/>
              </a:rPr>
              <a:t>→ 200: 5 остановок, 135 минут плана, 45 минут запаса, 1474 м по тротуарам, geometry_source=osrm. Ничего не подошло → 404 с текстом, а не пустой маршрут.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